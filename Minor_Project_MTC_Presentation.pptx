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53" r:id="rId1"/>
  </p:sldMasterIdLst>
  <p:notesMasterIdLst>
    <p:notesMasterId r:id="rId14"/>
  </p:notesMasterIdLst>
  <p:handoutMasterIdLst>
    <p:handoutMasterId r:id="rId15"/>
  </p:handoutMasterIdLst>
  <p:sldIdLst>
    <p:sldId id="256" r:id="rId2"/>
    <p:sldId id="257" r:id="rId3"/>
    <p:sldId id="259" r:id="rId4"/>
    <p:sldId id="279" r:id="rId5"/>
    <p:sldId id="261" r:id="rId6"/>
    <p:sldId id="286" r:id="rId7"/>
    <p:sldId id="281" r:id="rId8"/>
    <p:sldId id="282" r:id="rId9"/>
    <p:sldId id="283" r:id="rId10"/>
    <p:sldId id="284" r:id="rId11"/>
    <p:sldId id="280" r:id="rId12"/>
    <p:sldId id="269" r:id="rId13"/>
  </p:sldIdLst>
  <p:sldSz cx="12192000" cy="6858000"/>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8" d="100"/>
          <a:sy n="68" d="100"/>
        </p:scale>
        <p:origin x="616" y="48"/>
      </p:cViewPr>
      <p:guideLst>
        <p:guide orient="horz" pos="2160"/>
        <p:guide pos="3840"/>
      </p:guideLst>
    </p:cSldViewPr>
  </p:slideViewPr>
  <p:notesTextViewPr>
    <p:cViewPr>
      <p:scale>
        <a:sx n="1" d="1"/>
        <a:sy n="1" d="1"/>
      </p:scale>
      <p:origin x="0" y="0"/>
    </p:cViewPr>
  </p:notesTextViewPr>
  <p:sorterViewPr>
    <p:cViewPr>
      <p:scale>
        <a:sx n="70" d="100"/>
        <a:sy n="70" d="100"/>
      </p:scale>
      <p:origin x="0" y="0"/>
    </p:cViewPr>
  </p:sorterViewPr>
  <p:notesViewPr>
    <p:cSldViewPr snapToGrid="0">
      <p:cViewPr varScale="1">
        <p:scale>
          <a:sx n="54" d="100"/>
          <a:sy n="54" d="100"/>
        </p:scale>
        <p:origin x="2868" y="9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handoutMaster" Target="handoutMasters/handout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0A5E93-529C-ACC3-8DDD-9EE34AB0F512}"/>
              </a:ext>
            </a:extLst>
          </p:cNvPr>
          <p:cNvSpPr>
            <a:spLocks noGrp="1"/>
          </p:cNvSpPr>
          <p:nvPr>
            <p:ph type="hdr" sz="quarter"/>
          </p:nvPr>
        </p:nvSpPr>
        <p:spPr>
          <a:xfrm>
            <a:off x="0" y="0"/>
            <a:ext cx="3055938" cy="466725"/>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a:extLst>
              <a:ext uri="{FF2B5EF4-FFF2-40B4-BE49-F238E27FC236}">
                <a16:creationId xmlns:a16="http://schemas.microsoft.com/office/drawing/2014/main" id="{4845E36B-8631-B3FE-E65C-ED83966DAC04}"/>
              </a:ext>
            </a:extLst>
          </p:cNvPr>
          <p:cNvSpPr>
            <a:spLocks noGrp="1"/>
          </p:cNvSpPr>
          <p:nvPr>
            <p:ph type="dt" sz="quarter" idx="1"/>
          </p:nvPr>
        </p:nvSpPr>
        <p:spPr>
          <a:xfrm>
            <a:off x="3995738" y="0"/>
            <a:ext cx="3055937" cy="466725"/>
          </a:xfrm>
          <a:prstGeom prst="rect">
            <a:avLst/>
          </a:prstGeom>
        </p:spPr>
        <p:txBody>
          <a:bodyPr vert="horz" lIns="91440" tIns="45720" rIns="91440" bIns="45720" rtlCol="0"/>
          <a:lstStyle>
            <a:lvl1pPr algn="r" eaLnBrk="1" hangingPunct="1">
              <a:defRPr sz="1200"/>
            </a:lvl1pPr>
          </a:lstStyle>
          <a:p>
            <a:pPr>
              <a:defRPr/>
            </a:pPr>
            <a:fld id="{FBC11394-E340-49A5-963B-CFA67BA49B2C}" type="datetimeFigureOut">
              <a:rPr lang="en-US"/>
              <a:pPr>
                <a:defRPr/>
              </a:pPr>
              <a:t>10/24/2026</a:t>
            </a:fld>
            <a:endParaRPr lang="en-US"/>
          </a:p>
        </p:txBody>
      </p:sp>
      <p:sp>
        <p:nvSpPr>
          <p:cNvPr id="4" name="Footer Placeholder 3">
            <a:extLst>
              <a:ext uri="{FF2B5EF4-FFF2-40B4-BE49-F238E27FC236}">
                <a16:creationId xmlns:a16="http://schemas.microsoft.com/office/drawing/2014/main" id="{27A4EDA8-6C8F-002C-3870-A8B0E3BAC61B}"/>
              </a:ext>
            </a:extLst>
          </p:cNvPr>
          <p:cNvSpPr>
            <a:spLocks noGrp="1"/>
          </p:cNvSpPr>
          <p:nvPr>
            <p:ph type="ftr" sz="quarter" idx="2"/>
          </p:nvPr>
        </p:nvSpPr>
        <p:spPr>
          <a:xfrm>
            <a:off x="0" y="8842375"/>
            <a:ext cx="3055938" cy="466725"/>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5" name="Slide Number Placeholder 4">
            <a:extLst>
              <a:ext uri="{FF2B5EF4-FFF2-40B4-BE49-F238E27FC236}">
                <a16:creationId xmlns:a16="http://schemas.microsoft.com/office/drawing/2014/main" id="{553A7C0B-61BB-3C17-5A8A-F5C43C7B8B64}"/>
              </a:ext>
            </a:extLst>
          </p:cNvPr>
          <p:cNvSpPr>
            <a:spLocks noGrp="1"/>
          </p:cNvSpPr>
          <p:nvPr>
            <p:ph type="sldNum" sz="quarter" idx="3"/>
          </p:nvPr>
        </p:nvSpPr>
        <p:spPr>
          <a:xfrm>
            <a:off x="3995738" y="8842375"/>
            <a:ext cx="3055937" cy="466725"/>
          </a:xfrm>
          <a:prstGeom prst="rect">
            <a:avLst/>
          </a:prstGeom>
        </p:spPr>
        <p:txBody>
          <a:bodyPr vert="horz" lIns="91440" tIns="45720" rIns="91440" bIns="45720" rtlCol="0" anchor="b"/>
          <a:lstStyle>
            <a:lvl1pPr algn="r" eaLnBrk="1" hangingPunct="1">
              <a:defRPr sz="1200"/>
            </a:lvl1pPr>
          </a:lstStyle>
          <a:p>
            <a:pPr>
              <a:defRPr/>
            </a:pPr>
            <a:fld id="{DC8B489C-8479-4719-8378-F18FCE82D8BD}"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CC1580-A786-56AD-9423-A2B77F60AC60}"/>
              </a:ext>
            </a:extLst>
          </p:cNvPr>
          <p:cNvSpPr>
            <a:spLocks noGrp="1"/>
          </p:cNvSpPr>
          <p:nvPr>
            <p:ph type="hdr" sz="quarter"/>
          </p:nvPr>
        </p:nvSpPr>
        <p:spPr>
          <a:xfrm>
            <a:off x="0" y="0"/>
            <a:ext cx="3055938" cy="466725"/>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9EE28062-4AAD-784C-BFF7-2212028ADB3F}"/>
              </a:ext>
            </a:extLst>
          </p:cNvPr>
          <p:cNvSpPr>
            <a:spLocks noGrp="1"/>
          </p:cNvSpPr>
          <p:nvPr>
            <p:ph type="dt" idx="1"/>
          </p:nvPr>
        </p:nvSpPr>
        <p:spPr>
          <a:xfrm>
            <a:off x="3995738" y="0"/>
            <a:ext cx="3055937" cy="466725"/>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25CF505-59D6-49C7-960E-626F7EC21BC7}" type="datetimeFigureOut">
              <a:rPr lang="en-US"/>
              <a:pPr>
                <a:defRPr/>
              </a:pPr>
              <a:t>10/24/2026</a:t>
            </a:fld>
            <a:endParaRPr lang="en-US"/>
          </a:p>
        </p:txBody>
      </p:sp>
      <p:sp>
        <p:nvSpPr>
          <p:cNvPr id="4" name="Slide Image Placeholder 3">
            <a:extLst>
              <a:ext uri="{FF2B5EF4-FFF2-40B4-BE49-F238E27FC236}">
                <a16:creationId xmlns:a16="http://schemas.microsoft.com/office/drawing/2014/main" id="{5C9565BA-F24E-6B5E-0522-5F6AF7A17DED}"/>
              </a:ext>
            </a:extLst>
          </p:cNvPr>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956B093-6F41-9AE6-E8EA-0CDD4872FDC5}"/>
              </a:ext>
            </a:extLst>
          </p:cNvPr>
          <p:cNvSpPr>
            <a:spLocks noGrp="1"/>
          </p:cNvSpPr>
          <p:nvPr>
            <p:ph type="body" sz="quarter" idx="3"/>
          </p:nvPr>
        </p:nvSpPr>
        <p:spPr>
          <a:xfrm>
            <a:off x="704850" y="4479925"/>
            <a:ext cx="5643563" cy="3665538"/>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D6311511-539F-09EF-FC81-EBBE83B927F8}"/>
              </a:ext>
            </a:extLst>
          </p:cNvPr>
          <p:cNvSpPr>
            <a:spLocks noGrp="1"/>
          </p:cNvSpPr>
          <p:nvPr>
            <p:ph type="ftr" sz="quarter" idx="4"/>
          </p:nvPr>
        </p:nvSpPr>
        <p:spPr>
          <a:xfrm>
            <a:off x="0" y="8842375"/>
            <a:ext cx="3055938" cy="46672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B60FE8D5-45E7-1910-A928-DD0D50B91D01}"/>
              </a:ext>
            </a:extLst>
          </p:cNvPr>
          <p:cNvSpPr>
            <a:spLocks noGrp="1"/>
          </p:cNvSpPr>
          <p:nvPr>
            <p:ph type="sldNum" sz="quarter" idx="5"/>
          </p:nvPr>
        </p:nvSpPr>
        <p:spPr>
          <a:xfrm>
            <a:off x="3995738" y="8842375"/>
            <a:ext cx="3055937" cy="4667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FFAE4BC8-0E1D-4E9C-8652-D762AE1A989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e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e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e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pPr>
              <a:defRPr/>
            </a:pPr>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pPr>
              <a:defRPr/>
            </a:pPr>
            <a:fld id="{76CB60E6-F32E-4FB1-B6CD-FA4C1F1FD720}" type="datetimeFigureOut">
              <a:rPr lang="en-US" smtClean="0"/>
              <a:pPr>
                <a:defRPr/>
              </a:pPr>
              <a:t>10/24/2026</a:t>
            </a:fld>
            <a:endParaRPr lang="en-US" dirty="0"/>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275079077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2647577476"/>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pPr>
              <a:defRPr/>
            </a:pPr>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pPr>
              <a:defRPr/>
            </a:pPr>
            <a:fld id="{76CB60E6-F32E-4FB1-B6CD-FA4C1F1FD720}" type="datetimeFigureOut">
              <a:rPr lang="en-US" smtClean="0"/>
              <a:pPr>
                <a:defRPr/>
              </a:pPr>
              <a:t>10/24/2026</a:t>
            </a:fld>
            <a:endParaRPr lang="en-US" dirty="0"/>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xmlns=""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587515633"/>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xmlns=""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pPr>
              <a:defRPr/>
            </a:pPr>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1429349051"/>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xmlns=""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48727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109923555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xmlns=""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7576768"/>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xmlns=""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768888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xmlns=""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3322867"/>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pPr>
              <a:defRPr/>
            </a:pPr>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xmlns=""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6511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xmlns=""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pPr>
              <a:defRPr/>
            </a:pPr>
            <a:fld id="{76CB60E6-F32E-4FB1-B6CD-FA4C1F1FD720}" type="datetimeFigureOut">
              <a:rPr lang="en-US" smtClean="0"/>
              <a:pPr>
                <a:defRPr/>
              </a:pPr>
              <a:t>10/24/2026</a:t>
            </a:fld>
            <a:endParaRPr lang="en-US" dirty="0"/>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pPr>
              <a:defRPr/>
            </a:pPr>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338933378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xmlns=""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pPr>
              <a:defRPr/>
            </a:pPr>
            <a:fld id="{76CB60E6-F32E-4FB1-B6CD-FA4C1F1FD720}" type="datetimeFigureOut">
              <a:rPr lang="en-US" smtClean="0"/>
              <a:pPr>
                <a:defRPr/>
              </a:pPr>
              <a:t>10/24/2026</a:t>
            </a:fld>
            <a:endParaRPr lang="en-US" dirty="0"/>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pPr>
              <a:defRPr/>
            </a:pPr>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94263533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xmlns=""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pPr>
              <a:defRPr/>
            </a:pPr>
            <a:fld id="{76CB60E6-F32E-4FB1-B6CD-FA4C1F1FD720}" type="datetimeFigureOut">
              <a:rPr lang="en-US" smtClean="0"/>
              <a:pPr>
                <a:defRPr/>
              </a:pPr>
              <a:t>10/24/2026</a:t>
            </a:fld>
            <a:endParaRPr lang="en-US" dirty="0"/>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pPr>
              <a:defRPr/>
            </a:pPr>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75343847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xmlns=""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pPr>
              <a:defRPr/>
            </a:pPr>
            <a:fld id="{76CB60E6-F32E-4FB1-B6CD-FA4C1F1FD720}" type="datetimeFigureOut">
              <a:rPr lang="en-US" smtClean="0"/>
              <a:pPr>
                <a:defRPr/>
              </a:pPr>
              <a:t>10/24/2026</a:t>
            </a:fld>
            <a:endParaRPr lang="en-US" dirty="0"/>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pPr>
              <a:defRPr/>
            </a:pPr>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62688321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xmlns=""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pPr>
              <a:defRPr/>
            </a:pPr>
            <a:fld id="{76CB60E6-F32E-4FB1-B6CD-FA4C1F1FD720}" type="datetimeFigureOut">
              <a:rPr lang="en-US" smtClean="0"/>
              <a:pPr>
                <a:defRPr/>
              </a:pPr>
              <a:t>10/24/2026</a:t>
            </a:fld>
            <a:endParaRPr lang="en-US" dirty="0"/>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pPr>
              <a:defRPr/>
            </a:pPr>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384345194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pPr>
              <a:defRPr/>
            </a:pPr>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xmlns=""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69986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xmlns=""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2626596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pPr>
              <a:defRPr/>
            </a:pPr>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118978413"/>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858826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xmlns=""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1099508502"/>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xmlns=""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2612907395"/>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4244260548"/>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2880896691"/>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1984310042"/>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3458501420"/>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pPr>
              <a:defRPr/>
            </a:pP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3615911195"/>
      </p:ext>
    </p:extLst>
  </p:cSld>
  <p:clrMapOvr>
    <a:masterClrMapping/>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pPr>
              <a:defRPr/>
            </a:pPr>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247060871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1_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pPr>
              <a:defRPr/>
            </a:pPr>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pPr>
              <a:defRPr/>
            </a:pPr>
            <a:fld id="{CD857069-9FF4-4794-8A48-7D5C51A82FD9}" type="slidenum">
              <a:rPr lang="en-US" altLang="en-US" smtClean="0"/>
              <a:pPr>
                <a:defRPr/>
              </a:pPr>
              <a:t>‹#›</a:t>
            </a:fld>
            <a:endParaRPr lang="en-US" altLang="en-US" dirty="0"/>
          </a:p>
        </p:txBody>
      </p:sp>
    </p:spTree>
    <p:extLst>
      <p:ext uri="{BB962C8B-B14F-4D97-AF65-F5344CB8AC3E}">
        <p14:creationId xmlns:p14="http://schemas.microsoft.com/office/powerpoint/2010/main" val="936434396"/>
      </p:ext>
    </p:extLst>
  </p:cSld>
  <p:clrMapOvr>
    <a:masterClrMapping/>
  </p:clrMapOvr>
  <p:hf sldNum="0" hdr="0" ftr="0" dt="0"/>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pPr>
              <a:defRPr/>
            </a:pPr>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pPr>
              <a:defRPr/>
            </a:pPr>
            <a:fld id="{76CB60E6-F32E-4FB1-B6CD-FA4C1F1FD720}" type="datetimeFigureOut">
              <a:rPr lang="en-US" smtClean="0"/>
              <a:pPr>
                <a:defRPr/>
              </a:pPr>
              <a:t>10/24/2026</a:t>
            </a:fld>
            <a:endParaRPr lang="en-US" dirty="0"/>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pPr>
              <a:defRPr/>
            </a:pPr>
            <a:fld id="{CD857069-9FF4-4794-8A48-7D5C51A82FD9}" type="slidenum">
              <a:rPr lang="en-US" altLang="en-US" smtClean="0"/>
              <a:pPr>
                <a:defRPr/>
              </a:pPr>
              <a:t>‹#›</a:t>
            </a:fld>
            <a:endParaRPr lang="en-US" altLang="en-US" dirty="0"/>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1339811"/>
      </p:ext>
    </p:extLst>
  </p:cSld>
  <p:clrMap bg1="lt1" tx1="dk1" bg2="lt2" tx2="dk2" accent1="accent1" accent2="accent2" accent3="accent3" accent4="accent4" accent5="accent5" accent6="accent6" hlink="hlink" folHlink="folHlink"/>
  <p:sldLayoutIdLst>
    <p:sldLayoutId id="2147484254" r:id="rId1"/>
    <p:sldLayoutId id="2147484255" r:id="rId2"/>
    <p:sldLayoutId id="2147484256" r:id="rId3"/>
    <p:sldLayoutId id="2147484257" r:id="rId4"/>
    <p:sldLayoutId id="2147484258" r:id="rId5"/>
    <p:sldLayoutId id="2147484259" r:id="rId6"/>
    <p:sldLayoutId id="2147484260" r:id="rId7"/>
    <p:sldLayoutId id="2147484261" r:id="rId8"/>
    <p:sldLayoutId id="2147484262" r:id="rId9"/>
    <p:sldLayoutId id="2147484263" r:id="rId10"/>
    <p:sldLayoutId id="2147484264" r:id="rId11"/>
    <p:sldLayoutId id="2147484265" r:id="rId12"/>
    <p:sldLayoutId id="2147484266" r:id="rId13"/>
    <p:sldLayoutId id="2147484267" r:id="rId14"/>
    <p:sldLayoutId id="2147484268" r:id="rId15"/>
    <p:sldLayoutId id="2147484269" r:id="rId16"/>
    <p:sldLayoutId id="2147484270" r:id="rId17"/>
    <p:sldLayoutId id="2147484271" r:id="rId18"/>
    <p:sldLayoutId id="2147484272" r:id="rId19"/>
    <p:sldLayoutId id="2147484273" r:id="rId20"/>
    <p:sldLayoutId id="2147484274" r:id="rId21"/>
    <p:sldLayoutId id="2147484275" r:id="rId22"/>
    <p:sldLayoutId id="2147484276" r:id="rId23"/>
    <p:sldLayoutId id="2147484277" r:id="rId24"/>
    <p:sldLayoutId id="2147484278" r:id="rId25"/>
    <p:sldLayoutId id="2147484279" r:id="rId26"/>
    <p:sldLayoutId id="2147484280" r:id="rId27"/>
    <p:sldLayoutId id="2147484281" r:id="rId28"/>
  </p:sldLayoutIdLst>
  <p:hf sldNum="0" hdr="0" ftr="0" dt="0"/>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9.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 Id="rId3"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 Id="rId3" Type="http://schemas.openxmlformats.org/officeDocument/2006/relationships/image" Target="../media/image11.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7DFCC4A5-2F52-31EB-A2C8-5091FA6FF0DC}"/>
              </a:ext>
            </a:extLst>
          </p:cNvPr>
          <p:cNvSpPr>
            <a:spLocks noGrp="1"/>
          </p:cNvSpPr>
          <p:nvPr>
            <p:ph type="ctrTitle"/>
          </p:nvPr>
        </p:nvSpPr>
        <p:spPr>
          <a:xfrm>
            <a:off x="612648" y="1097280"/>
            <a:ext cx="8961120" cy="2560320"/>
          </a:xfrm>
        </p:spPr>
        <p:txBody>
          <a:bodyPr/>
          <a:lstStyle/>
          <a:p>
            <a:pPr algn="l" eaLnBrk="1" hangingPunct="1">
              <a:defRPr sz="3800" b="1">
                <a:solidFill>
                  <a:srgbClr val="0D47A1"/>
                </a:solidFill>
                <a:latin typeface="Times New Roman"/>
              </a:defRPr>
            </a:pPr>
            <a:r>
              <a:t>Micro-Train-Compiler (MTC)</a:t>
            </a:r>
          </a:p>
          <a:p>
            <a:pPr>
              <a:spcBef>
                <a:spcPts val="800"/>
              </a:spcBef>
              <a:defRPr sz="1600" i="1">
                <a:solidFill>
                  <a:srgbClr val="5A5A5A"/>
                </a:solidFill>
                <a:latin typeface="Times New Roman"/>
              </a:defRPr>
            </a:pPr>
            <a:r>
              <a:t>A Source-to-Source Compiler for Zero-Heap On-Device Neural Network Training on Microcontrollers</a:t>
            </a:r>
          </a:p>
        </p:txBody>
      </p:sp>
      <p:sp>
        <p:nvSpPr>
          <p:cNvPr id="21507" name="Subtitle 2">
            <a:extLst>
              <a:ext uri="{FF2B5EF4-FFF2-40B4-BE49-F238E27FC236}">
                <a16:creationId xmlns:a16="http://schemas.microsoft.com/office/drawing/2014/main" id="{36F05418-C7BC-136B-5C67-E053925BDEF1}"/>
              </a:ext>
            </a:extLst>
          </p:cNvPr>
          <p:cNvSpPr>
            <a:spLocks noGrp="1"/>
          </p:cNvSpPr>
          <p:nvPr>
            <p:ph type="subTitle" idx="1"/>
          </p:nvPr>
        </p:nvSpPr>
        <p:spPr>
          <a:xfrm>
            <a:off x="612648" y="4114800"/>
            <a:ext cx="5669280" cy="2377440"/>
          </a:xfrm>
        </p:spPr>
        <p:txBody>
          <a:bodyPr/>
          <a:lstStyle/>
          <a:p>
            <a:pPr algn="l" eaLnBrk="1" hangingPunct="1">
              <a:spcAft>
                <a:spcPts val="400"/>
              </a:spcAft>
              <a:defRPr sz="1550" b="1">
                <a:solidFill>
                  <a:srgbClr val="0D47A1"/>
                </a:solidFill>
                <a:latin typeface="Times New Roman"/>
              </a:defRPr>
            </a:pPr>
            <a:r>
              <a:t>Submitted By:</a:t>
            </a:r>
          </a:p>
          <a:p>
            <a:pPr>
              <a:spcAft>
                <a:spcPts val="200"/>
              </a:spcAft>
              <a:defRPr sz="1300">
                <a:solidFill>
                  <a:srgbClr val="212121"/>
                </a:solidFill>
                <a:latin typeface="Times New Roman"/>
              </a:defRPr>
            </a:pPr>
            <a:r>
              <a:t>• Ajay Sisodia  (Roll No: 2405111530012)</a:t>
            </a:r>
          </a:p>
          <a:p>
            <a:pPr>
              <a:spcAft>
                <a:spcPts val="200"/>
              </a:spcAft>
              <a:defRPr sz="1300">
                <a:solidFill>
                  <a:srgbClr val="212121"/>
                </a:solidFill>
                <a:latin typeface="Times New Roman"/>
              </a:defRPr>
            </a:pPr>
            <a:r>
              <a:t>• Harsh Chaudhary  (Roll No: 2405111530067)</a:t>
            </a:r>
          </a:p>
          <a:p>
            <a:pPr>
              <a:spcAft>
                <a:spcPts val="200"/>
              </a:spcAft>
              <a:defRPr sz="1300">
                <a:solidFill>
                  <a:srgbClr val="212121"/>
                </a:solidFill>
                <a:latin typeface="Times New Roman"/>
              </a:defRPr>
            </a:pPr>
            <a:r>
              <a:t>• Devrat Kuntal  (Roll No: 2405111530055)</a:t>
            </a:r>
          </a:p>
          <a:p>
            <a:pPr>
              <a:spcAft>
                <a:spcPts val="200"/>
              </a:spcAft>
              <a:defRPr sz="1300">
                <a:solidFill>
                  <a:srgbClr val="212121"/>
                </a:solidFill>
                <a:latin typeface="Times New Roman"/>
              </a:defRPr>
            </a:pPr>
            <a:r>
              <a:t>• Aryan Upadhyay  (Roll No: 2405111530037)</a:t>
            </a:r>
          </a:p>
        </p:txBody>
      </p:sp>
      <p:sp>
        <p:nvSpPr>
          <p:cNvPr id="21508" name="Content Placeholder 2">
            <a:extLst>
              <a:ext uri="{FF2B5EF4-FFF2-40B4-BE49-F238E27FC236}">
                <a16:creationId xmlns:a16="http://schemas.microsoft.com/office/drawing/2014/main" id="{EC5AFCD2-BA64-AD15-5394-A386C48E01FD}"/>
              </a:ext>
            </a:extLst>
          </p:cNvPr>
          <p:cNvSpPr txBox="1">
            <a:spLocks/>
          </p:cNvSpPr>
          <p:nvPr/>
        </p:nvSpPr>
        <p:spPr bwMode="auto">
          <a:xfrm>
            <a:off x="1371600" y="182880"/>
            <a:ext cx="7772400" cy="54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defTabSz="914400" eaLnBrk="1" hangingPunct="1" algn="l">
              <a:lnSpc>
                <a:spcPct val="100000"/>
              </a:lnSpc>
              <a:spcBef>
                <a:spcPct val="20000"/>
              </a:spcBef>
              <a:buFont typeface="Arial" panose="020B0604020202020204" pitchFamily="34" charset="0"/>
              <a:buNone/>
              <a:defRPr sz="2200" b="1">
                <a:solidFill>
                  <a:srgbClr val="0D47A1"/>
                </a:solidFill>
                <a:latin typeface="Times New Roman"/>
              </a:defRPr>
            </a:pPr>
            <a:r>
              <a:t>B.TECH SYNOPSIS PRESENTATION</a:t>
            </a:r>
          </a:p>
        </p:txBody>
      </p:sp>
      <p:sp>
        <p:nvSpPr>
          <p:cNvPr id="21510" name="Rectangle 5">
            <a:extLst>
              <a:ext uri="{FF2B5EF4-FFF2-40B4-BE49-F238E27FC236}">
                <a16:creationId xmlns:a16="http://schemas.microsoft.com/office/drawing/2014/main" id="{C37A74E6-6682-D83C-A8B9-B9572B2AD066}"/>
              </a:ext>
            </a:extLst>
          </p:cNvPr>
          <p:cNvSpPr>
            <a:spLocks noChangeArrowheads="1"/>
          </p:cNvSpPr>
          <p:nvPr/>
        </p:nvSpPr>
        <p:spPr bwMode="auto">
          <a:xfrm>
            <a:off x="6583680" y="4114800"/>
            <a:ext cx="5120640" cy="2377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spcBef>
                <a:spcPct val="0"/>
              </a:spcBef>
              <a:spcAft>
                <a:spcPts val="400"/>
              </a:spcAft>
              <a:buFontTx/>
              <a:buNone/>
              <a:defRPr sz="1550" b="1">
                <a:solidFill>
                  <a:srgbClr val="0D47A1"/>
                </a:solidFill>
                <a:latin typeface="Times New Roman"/>
              </a:defRPr>
            </a:pPr>
            <a:r>
              <a:t>Under the Guidance of:</a:t>
            </a:r>
          </a:p>
          <a:p>
            <a:pPr>
              <a:defRPr sz="1450" b="1">
                <a:solidFill>
                  <a:srgbClr val="212121"/>
                </a:solidFill>
                <a:latin typeface="Times New Roman"/>
              </a:defRPr>
            </a:pPr>
            <a:r>
              <a:t>Ms. Gaurisha Sisodia</a:t>
            </a:r>
          </a:p>
          <a:p>
            <a:pPr>
              <a:spcBef>
                <a:spcPts val="200"/>
              </a:spcBef>
              <a:defRPr sz="1250">
                <a:solidFill>
                  <a:srgbClr val="5A5A5A"/>
                </a:solidFill>
                <a:latin typeface="Times New Roman"/>
              </a:defRPr>
            </a:pPr>
            <a:r>
              <a:t>Assistant Professor</a:t>
            </a:r>
            <a:br/>
            <a:r>
              <a:t>Department of Computer Science &amp; Engineering</a:t>
            </a:r>
            <a:br/>
            <a:r>
              <a:t>G. L. Bajaj Group of Institutions, Mathura</a:t>
            </a:r>
          </a:p>
        </p:txBody>
      </p:sp>
      <p:pic>
        <p:nvPicPr>
          <p:cNvPr id="21512" name="Picture 3">
            <a:extLst>
              <a:ext uri="{FF2B5EF4-FFF2-40B4-BE49-F238E27FC236}">
                <a16:creationId xmlns:a16="http://schemas.microsoft.com/office/drawing/2014/main" id="{1B50234B-5C7D-9936-E196-729014A701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extBox 2">
            <a:extLst>
              <a:ext uri="{FF2B5EF4-FFF2-40B4-BE49-F238E27FC236}">
                <a16:creationId xmlns:a16="http://schemas.microsoft.com/office/drawing/2014/main" id="{45621B84-24B1-966D-428D-1E98D0DC2F93}"/>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algn="ctr" eaLnBrk="1" hangingPunct="1">
              <a:lnSpc>
                <a:spcPct val="100000"/>
              </a:lnSpc>
              <a:spcBef>
                <a:spcPct val="0"/>
              </a:spcBef>
              <a:buFontTx/>
              <a:buNone/>
              <a:defRPr sz="3200" b="1">
                <a:solidFill>
                  <a:srgbClr val="0D47A1"/>
                </a:solidFill>
                <a:latin typeface="Times New Roman"/>
              </a:defRPr>
            </a:pPr>
            <a:r>
              <a:t>Problem Statement &amp; Research Objectives</a:t>
            </a:r>
          </a:p>
        </p:txBody>
      </p:sp>
      <p:pic>
        <p:nvPicPr>
          <p:cNvPr id="3" name="Picture 3">
            <a:extLst>
              <a:ext uri="{FF2B5EF4-FFF2-40B4-BE49-F238E27FC236}">
                <a16:creationId xmlns:a16="http://schemas.microsoft.com/office/drawing/2014/main" id="{CA856B83-C754-421B-D54D-C9778BBD2E0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TextBox 22530"/>
          <p:cNvSpPr txBox="1"/>
          <p:nvPr/>
        </p:nvSpPr>
        <p:spPr>
          <a:xfrm>
            <a:off x="612648" y="1234440"/>
            <a:ext cx="10972800" cy="5303520"/>
          </a:xfrm>
          <a:prstGeom prst="rect">
            <a:avLst/>
          </a:prstGeom>
          <a:noFill/>
        </p:spPr>
        <p:txBody>
          <a:bodyPr wrap="square" lIns="73152" rIns="73152" tIns="73152" bIns="73152">
            <a:spAutoFit/>
          </a:bodyPr>
          <a:lstStyle/>
          <a:p>
            <a:pPr algn="just">
              <a:spcAft>
                <a:spcPts val="800"/>
              </a:spcAft>
            </a:pPr>
            <a:r>
              <a:rPr sz="1350" b="1">
                <a:solidFill>
                  <a:srgbClr val="0D47A1"/>
                </a:solidFill>
                <a:latin typeface="Times New Roman"/>
              </a:rPr>
              <a:t>•  Edge AI Deployment Barrier: </a:t>
            </a:r>
            <a:r>
              <a:rPr sz="1350" b="0">
                <a:solidFill>
                  <a:srgbClr val="212121"/>
                </a:solidFill>
                <a:latin typeface="Times New Roman"/>
              </a:rPr>
              <a:t>Modern edge AI is predominantly inference-only (e.g., TensorFlow Lite Micro). Once flashed, microcontrollers cannot adapt to sensor drift, individualized user behavior, or runtime environmental changes without offloading data to the cloud, introducing severe latency, privacy, and connectivity dependencies.</a:t>
            </a:r>
          </a:p>
          <a:p>
            <a:pPr algn="just">
              <a:spcAft>
                <a:spcPts val="800"/>
              </a:spcAft>
            </a:pPr>
            <a:r>
              <a:rPr sz="1350" b="1">
                <a:solidFill>
                  <a:srgbClr val="0D47A1"/>
                </a:solidFill>
                <a:latin typeface="Times New Roman"/>
              </a:rPr>
              <a:t>•  The Embedded Memory Dilemma: </a:t>
            </a:r>
            <a:r>
              <a:rPr sz="1350" b="0">
                <a:solidFill>
                  <a:srgbClr val="212121"/>
                </a:solidFill>
                <a:latin typeface="Times New Roman"/>
              </a:rPr>
              <a:t>Standard deep learning frameworks (PyTorch, TensorFlow, AIfES) rely heavily on dynamic memory allocation (malloc) to build runtime autograd graphs. In resource-constrained microcontrollers possessing only 16 KB to 64 KB of SRAM, heap allocations frequently lead to non-deterministic execution, fragmentation, and fatal system crashes.</a:t>
            </a:r>
          </a:p>
          <a:p>
            <a:pPr algn="just">
              <a:spcAft>
                <a:spcPts val="800"/>
              </a:spcAft>
            </a:pPr>
            <a:r>
              <a:rPr sz="1350" b="1">
                <a:solidFill>
                  <a:srgbClr val="0D47A1"/>
                </a:solidFill>
                <a:latin typeface="Times New Roman"/>
              </a:rPr>
              <a:t>•  Redundant Gradient Buffer Inflation: </a:t>
            </a:r>
            <a:r>
              <a:rPr sz="1350" b="0">
                <a:solidFill>
                  <a:srgbClr val="212121"/>
                </a:solidFill>
                <a:latin typeface="Times New Roman"/>
              </a:rPr>
              <a:t>Conventional reverse-mode automatic differentiation retains explicit parameter gradient tensors (grad_W, grad_B) alongside forward activation caches across all layers simultaneously, multiplying peak SRAM requirements by 2x to 4x beyond microcontroller hardware capacity.</a:t>
            </a:r>
          </a:p>
          <a:p>
            <a:pPr algn="just">
              <a:spcAft>
                <a:spcPts val="400"/>
              </a:spcAft>
            </a:pPr>
            <a:r>
              <a:rPr sz="1350" b="1">
                <a:solidFill>
                  <a:srgbClr val="0D47A1"/>
                </a:solidFill>
                <a:latin typeface="Times New Roman"/>
              </a:rPr>
              <a:t>•  Specific Project Research Objectives: </a:t>
            </a:r>
            <a:r>
              <a:rPr sz="1350" b="0">
                <a:solidFill>
                  <a:srgbClr val="212121"/>
                </a:solidFill>
                <a:latin typeface="Times New Roman"/>
              </a:rPr>
              <a:t>1) Eliminate dynamic memory allocation completely (malloc = 0) through static compile-time liveness analysis; 2) Fuse backpropagation with SGD parameter updates directly in-place without explicit gradient buffers; 3) Synthesize portable, standalone C99 code with formal Q15 fixed-point interval overflow verification; 4) Empirically validate cycle-accurate execution on real bare-metal ESP32-C3 RISC-V hardware.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1">
          <a:gsLst>
            <a:gs pos="96000">
              <a:schemeClr val="bg1"/>
            </a:gs>
            <a:gs pos="98000">
              <a:srgbClr val="EE7444"/>
            </a:gs>
            <a:gs pos="100000">
              <a:srgbClr val="8D0000"/>
            </a:gs>
            <a:gs pos="100000">
              <a:srgbClr val="8D0000"/>
            </a:gs>
          </a:gsLst>
          <a:lin ang="2520000"/>
        </a:gradFill>
        <a:effectLst/>
      </p:bgPr>
    </p:bg>
    <p:spTree>
      <p:nvGrpSpPr>
        <p:cNvPr id="1" name=""/>
        <p:cNvGrpSpPr/>
        <p:nvPr/>
      </p:nvGrpSpPr>
      <p:grpSpPr>
        <a:xfrm>
          <a:off x="0" y="0"/>
          <a:ext cx="0" cy="0"/>
          <a:chOff x="0" y="0"/>
          <a:chExt cx="0" cy="0"/>
        </a:xfrm>
      </p:grpSpPr>
      <p:sp>
        <p:nvSpPr>
          <p:cNvPr id="23554" name="TextBox 2">
            <a:extLst>
              <a:ext uri="{FF2B5EF4-FFF2-40B4-BE49-F238E27FC236}">
                <a16:creationId xmlns:a16="http://schemas.microsoft.com/office/drawing/2014/main" id="{94AE3AB9-10FA-D76C-B517-BE33CC809F72}"/>
              </a:ext>
            </a:extLst>
          </p:cNvPr>
          <p:cNvSpPr txBox="1">
            <a:spLocks noChangeArrowheads="1"/>
          </p:cNvSpPr>
          <p:nvPr/>
        </p:nvSpPr>
        <p:spPr bwMode="auto">
          <a:xfrm>
            <a:off x="304800" y="360363"/>
            <a:ext cx="7645400" cy="769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defRPr sz="3400" b="1">
                <a:solidFill>
                  <a:srgbClr val="0D47A1"/>
                </a:solidFill>
                <a:latin typeface="Times New Roman"/>
              </a:defRPr>
            </a:pPr>
            <a:r>
              <a:t>Literature Review</a:t>
            </a:r>
          </a:p>
        </p:txBody>
      </p:sp>
      <p:pic>
        <p:nvPicPr>
          <p:cNvPr id="5" name="Picture 3">
            <a:extLst>
              <a:ext uri="{FF2B5EF4-FFF2-40B4-BE49-F238E27FC236}">
                <a16:creationId xmlns:a16="http://schemas.microsoft.com/office/drawing/2014/main" id="{0498B66E-6B85-B1B3-73F1-AFB8D9B0CA2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3555" name="Table 23554"/>
          <p:cNvGraphicFramePr>
            <a:graphicFrameLocks noGrp="1"/>
          </p:cNvGraphicFramePr>
          <p:nvPr/>
        </p:nvGraphicFramePr>
        <p:xfrm>
          <a:off x="457200" y="1188720"/>
          <a:ext cx="11274552" cy="5303520"/>
        </p:xfrm>
        <a:graphic>
          <a:graphicData uri="http://schemas.openxmlformats.org/drawingml/2006/table">
            <a:tbl>
              <a:tblPr firstRow="1" bandRow="1">
                <a:tableStyleId>{5C22544A-7EE6-4342-B048-85BDC9FD1C3A}</a:tableStyleId>
              </a:tblPr>
              <a:tblGrid>
                <a:gridCol w="457200"/>
                <a:gridCol w="1828800"/>
                <a:gridCol w="640080"/>
                <a:gridCol w="2743200"/>
                <a:gridCol w="1645920"/>
                <a:gridCol w="3959352"/>
              </a:tblGrid>
              <a:tr h="1060704">
                <a:tc>
                  <a:txBody>
                    <a:bodyPr/>
                    <a:lstStyle/>
                    <a:p>
                      <a:pPr algn="ctr">
                        <a:defRPr sz="1200" b="1">
                          <a:solidFill>
                            <a:srgbClr val="FFFFFF"/>
                          </a:solidFill>
                          <a:latin typeface="Times New Roman"/>
                        </a:defRPr>
                      </a:pPr>
                      <a:r>
                        <a:t>Sr.</a:t>
                      </a:r>
                    </a:p>
                  </a:txBody>
                  <a:tcPr>
                    <a:solidFill>
                      <a:srgbClr val="0D47A1"/>
                    </a:solidFill>
                  </a:tcPr>
                </a:tc>
                <a:tc>
                  <a:txBody>
                    <a:bodyPr/>
                    <a:lstStyle/>
                    <a:p>
                      <a:pPr algn="ctr">
                        <a:defRPr sz="1200" b="1">
                          <a:solidFill>
                            <a:srgbClr val="FFFFFF"/>
                          </a:solidFill>
                          <a:latin typeface="Times New Roman"/>
                        </a:defRPr>
                      </a:pPr>
                      <a:r>
                        <a:t>Author(s)</a:t>
                      </a:r>
                    </a:p>
                  </a:txBody>
                  <a:tcPr>
                    <a:solidFill>
                      <a:srgbClr val="0D47A1"/>
                    </a:solidFill>
                  </a:tcPr>
                </a:tc>
                <a:tc>
                  <a:txBody>
                    <a:bodyPr/>
                    <a:lstStyle/>
                    <a:p>
                      <a:pPr algn="ctr">
                        <a:defRPr sz="1200" b="1">
                          <a:solidFill>
                            <a:srgbClr val="FFFFFF"/>
                          </a:solidFill>
                          <a:latin typeface="Times New Roman"/>
                        </a:defRPr>
                      </a:pPr>
                      <a:r>
                        <a:t>Year</a:t>
                      </a:r>
                    </a:p>
                  </a:txBody>
                  <a:tcPr>
                    <a:solidFill>
                      <a:srgbClr val="0D47A1"/>
                    </a:solidFill>
                  </a:tcPr>
                </a:tc>
                <a:tc>
                  <a:txBody>
                    <a:bodyPr/>
                    <a:lstStyle/>
                    <a:p>
                      <a:pPr algn="ctr">
                        <a:defRPr sz="1200" b="1">
                          <a:solidFill>
                            <a:srgbClr val="FFFFFF"/>
                          </a:solidFill>
                          <a:latin typeface="Times New Roman"/>
                        </a:defRPr>
                      </a:pPr>
                      <a:r>
                        <a:t>Title</a:t>
                      </a:r>
                    </a:p>
                  </a:txBody>
                  <a:tcPr>
                    <a:solidFill>
                      <a:srgbClr val="0D47A1"/>
                    </a:solidFill>
                  </a:tcPr>
                </a:tc>
                <a:tc>
                  <a:txBody>
                    <a:bodyPr/>
                    <a:lstStyle/>
                    <a:p>
                      <a:pPr algn="ctr">
                        <a:defRPr sz="1200" b="1">
                          <a:solidFill>
                            <a:srgbClr val="FFFFFF"/>
                          </a:solidFill>
                          <a:latin typeface="Times New Roman"/>
                        </a:defRPr>
                      </a:pPr>
                      <a:r>
                        <a:t>Venue / Journal</a:t>
                      </a:r>
                    </a:p>
                  </a:txBody>
                  <a:tcPr>
                    <a:solidFill>
                      <a:srgbClr val="0D47A1"/>
                    </a:solidFill>
                  </a:tcPr>
                </a:tc>
                <a:tc>
                  <a:txBody>
                    <a:bodyPr/>
                    <a:lstStyle/>
                    <a:p>
                      <a:pPr algn="ctr">
                        <a:defRPr sz="1200" b="1">
                          <a:solidFill>
                            <a:srgbClr val="FFFFFF"/>
                          </a:solidFill>
                          <a:latin typeface="Times New Roman"/>
                        </a:defRPr>
                      </a:pPr>
                      <a:r>
                        <a:t>Summary &amp; Dataset</a:t>
                      </a:r>
                    </a:p>
                  </a:txBody>
                  <a:tcPr>
                    <a:solidFill>
                      <a:srgbClr val="0D47A1"/>
                    </a:solidFill>
                  </a:tcPr>
                </a:tc>
              </a:tr>
              <a:tr h="1060704">
                <a:tc>
                  <a:txBody>
                    <a:bodyPr/>
                    <a:lstStyle/>
                    <a:p>
                      <a:pPr algn="ctr">
                        <a:defRPr sz="1100">
                          <a:solidFill>
                            <a:srgbClr val="212121"/>
                          </a:solidFill>
                          <a:latin typeface="Times New Roman"/>
                        </a:defRPr>
                      </a:pPr>
                      <a:r>
                        <a:t>1.</a:t>
                      </a:r>
                    </a:p>
                  </a:txBody>
                  <a:tcPr/>
                </a:tc>
                <a:tc>
                  <a:txBody>
                    <a:bodyPr/>
                    <a:lstStyle/>
                    <a:p>
                      <a:pPr algn="just">
                        <a:defRPr sz="1100">
                          <a:solidFill>
                            <a:srgbClr val="212121"/>
                          </a:solidFill>
                          <a:latin typeface="Times New Roman"/>
                        </a:defRPr>
                      </a:pPr>
                      <a:r>
                        <a:t>Ji Lin et al.</a:t>
                      </a:r>
                    </a:p>
                    <a:p>
                      <a:pPr>
                        <a:defRPr sz="1100">
                          <a:solidFill>
                            <a:srgbClr val="212121"/>
                          </a:solidFill>
                          <a:latin typeface="Times New Roman"/>
                        </a:defRPr>
                      </a:pPr>
                      <a:r>
                        <a:t>(MIT)</a:t>
                      </a:r>
                    </a:p>
                  </a:txBody>
                  <a:tcPr/>
                </a:tc>
                <a:tc>
                  <a:txBody>
                    <a:bodyPr/>
                    <a:lstStyle/>
                    <a:p>
                      <a:pPr algn="ctr">
                        <a:defRPr sz="1100">
                          <a:solidFill>
                            <a:srgbClr val="212121"/>
                          </a:solidFill>
                          <a:latin typeface="Times New Roman"/>
                        </a:defRPr>
                      </a:pPr>
                      <a:r>
                        <a:t>2022</a:t>
                      </a:r>
                    </a:p>
                  </a:txBody>
                  <a:tcPr/>
                </a:tc>
                <a:tc>
                  <a:txBody>
                    <a:bodyPr/>
                    <a:lstStyle/>
                    <a:p>
                      <a:pPr algn="just">
                        <a:defRPr sz="1100">
                          <a:solidFill>
                            <a:srgbClr val="212121"/>
                          </a:solidFill>
                          <a:latin typeface="Times New Roman"/>
                        </a:defRPr>
                      </a:pPr>
                      <a:r>
                        <a:t>On-Device Training Under 256KB Memory</a:t>
                      </a:r>
                    </a:p>
                  </a:txBody>
                  <a:tcPr/>
                </a:tc>
                <a:tc>
                  <a:txBody>
                    <a:bodyPr/>
                    <a:lstStyle/>
                    <a:p>
                      <a:pPr algn="just">
                        <a:defRPr sz="1100">
                          <a:solidFill>
                            <a:srgbClr val="212121"/>
                          </a:solidFill>
                          <a:latin typeface="Times New Roman"/>
                        </a:defRPr>
                      </a:pPr>
                      <a:r>
                        <a:t>NeurIPS 2022</a:t>
                      </a:r>
                    </a:p>
                  </a:txBody>
                  <a:tcPr/>
                </a:tc>
                <a:tc>
                  <a:txBody>
                    <a:bodyPr/>
                    <a:lstStyle/>
                    <a:p>
                      <a:pPr algn="just">
                        <a:defRPr sz="1100">
                          <a:solidFill>
                            <a:srgbClr val="212121"/>
                          </a:solidFill>
                          <a:latin typeface="Times New Roman"/>
                        </a:defRPr>
                      </a:pPr>
                      <a:r>
                        <a:t>Quantized backpropagation &amp; activation-sparse updates to bring edge transfer learning within 256KB SRAM. Dataset: CIFAR-10, ImageNet.</a:t>
                      </a:r>
                    </a:p>
                  </a:txBody>
                  <a:tcPr/>
                </a:tc>
              </a:tr>
              <a:tr h="1060704">
                <a:tc>
                  <a:txBody>
                    <a:bodyPr/>
                    <a:lstStyle/>
                    <a:p>
                      <a:pPr algn="ctr">
                        <a:defRPr sz="1100">
                          <a:solidFill>
                            <a:srgbClr val="212121"/>
                          </a:solidFill>
                          <a:latin typeface="Times New Roman"/>
                        </a:defRPr>
                      </a:pPr>
                      <a:r>
                        <a:t>2.</a:t>
                      </a:r>
                    </a:p>
                  </a:txBody>
                  <a:tcPr/>
                </a:tc>
                <a:tc>
                  <a:txBody>
                    <a:bodyPr/>
                    <a:lstStyle/>
                    <a:p>
                      <a:pPr algn="just">
                        <a:defRPr sz="1100">
                          <a:solidFill>
                            <a:srgbClr val="212121"/>
                          </a:solidFill>
                          <a:latin typeface="Times New Roman"/>
                        </a:defRPr>
                      </a:pPr>
                      <a:r>
                        <a:t>L. Ravaglia et al.</a:t>
                      </a:r>
                    </a:p>
                    <a:p>
                      <a:pPr>
                        <a:defRPr sz="1100">
                          <a:solidFill>
                            <a:srgbClr val="212121"/>
                          </a:solidFill>
                          <a:latin typeface="Times New Roman"/>
                        </a:defRPr>
                      </a:pPr>
                      <a:r>
                        <a:t>(Univ. Bologna)</a:t>
                      </a:r>
                    </a:p>
                  </a:txBody>
                  <a:tcPr/>
                </a:tc>
                <a:tc>
                  <a:txBody>
                    <a:bodyPr/>
                    <a:lstStyle/>
                    <a:p>
                      <a:pPr algn="ctr">
                        <a:defRPr sz="1100">
                          <a:solidFill>
                            <a:srgbClr val="212121"/>
                          </a:solidFill>
                          <a:latin typeface="Times New Roman"/>
                        </a:defRPr>
                      </a:pPr>
                      <a:r>
                        <a:t>2022</a:t>
                      </a:r>
                    </a:p>
                  </a:txBody>
                  <a:tcPr/>
                </a:tc>
                <a:tc>
                  <a:txBody>
                    <a:bodyPr/>
                    <a:lstStyle/>
                    <a:p>
                      <a:pPr algn="just">
                        <a:defRPr sz="1100">
                          <a:solidFill>
                            <a:srgbClr val="212121"/>
                          </a:solidFill>
                          <a:latin typeface="Times New Roman"/>
                        </a:defRPr>
                      </a:pPr>
                      <a:r>
                        <a:t>TinyOL: TinyML with Online-Learning on Microcontrollers</a:t>
                      </a:r>
                    </a:p>
                  </a:txBody>
                  <a:tcPr/>
                </a:tc>
                <a:tc>
                  <a:txBody>
                    <a:bodyPr/>
                    <a:lstStyle/>
                    <a:p>
                      <a:pPr algn="just">
                        <a:defRPr sz="1100">
                          <a:solidFill>
                            <a:srgbClr val="212121"/>
                          </a:solidFill>
                          <a:latin typeface="Times New Roman"/>
                        </a:defRPr>
                      </a:pPr>
                      <a:r>
                        <a:t>IEEE Trans. CAS / IJCNN 2022</a:t>
                      </a:r>
                    </a:p>
                  </a:txBody>
                  <a:tcPr/>
                </a:tc>
                <a:tc>
                  <a:txBody>
                    <a:bodyPr/>
                    <a:lstStyle/>
                    <a:p>
                      <a:pPr algn="just">
                        <a:defRPr sz="1100">
                          <a:solidFill>
                            <a:srgbClr val="212121"/>
                          </a:solidFill>
                          <a:latin typeface="Times New Roman"/>
                        </a:defRPr>
                      </a:pPr>
                      <a:r>
                        <a:t>Demonstrated online single-layer adaptation on ARM Cortex-M4 using static tensor arenas. Dataset: UCI HAR, Gas Sensor.</a:t>
                      </a:r>
                    </a:p>
                  </a:txBody>
                  <a:tcPr/>
                </a:tc>
              </a:tr>
              <a:tr h="1060704">
                <a:tc>
                  <a:txBody>
                    <a:bodyPr/>
                    <a:lstStyle/>
                    <a:p>
                      <a:pPr algn="ctr">
                        <a:defRPr sz="1100">
                          <a:solidFill>
                            <a:srgbClr val="212121"/>
                          </a:solidFill>
                          <a:latin typeface="Times New Roman"/>
                        </a:defRPr>
                      </a:pPr>
                      <a:r>
                        <a:t>3.</a:t>
                      </a:r>
                    </a:p>
                  </a:txBody>
                  <a:tcPr/>
                </a:tc>
                <a:tc>
                  <a:txBody>
                    <a:bodyPr/>
                    <a:lstStyle/>
                    <a:p>
                      <a:pPr algn="just">
                        <a:defRPr sz="1100">
                          <a:solidFill>
                            <a:srgbClr val="212121"/>
                          </a:solidFill>
                          <a:latin typeface="Times New Roman"/>
                        </a:defRPr>
                      </a:pPr>
                      <a:r>
                        <a:t>F. Conti et al.</a:t>
                      </a:r>
                    </a:p>
                    <a:p>
                      <a:pPr>
                        <a:defRPr sz="1100">
                          <a:solidFill>
                            <a:srgbClr val="212121"/>
                          </a:solidFill>
                          <a:latin typeface="Times New Roman"/>
                        </a:defRPr>
                      </a:pPr>
                      <a:r>
                        <a:t>(ETH Zürich)</a:t>
                      </a:r>
                    </a:p>
                  </a:txBody>
                  <a:tcPr/>
                </a:tc>
                <a:tc>
                  <a:txBody>
                    <a:bodyPr/>
                    <a:lstStyle/>
                    <a:p>
                      <a:pPr algn="ctr">
                        <a:defRPr sz="1100">
                          <a:solidFill>
                            <a:srgbClr val="212121"/>
                          </a:solidFill>
                          <a:latin typeface="Times New Roman"/>
                        </a:defRPr>
                      </a:pPr>
                      <a:r>
                        <a:t>2023</a:t>
                      </a:r>
                    </a:p>
                  </a:txBody>
                  <a:tcPr/>
                </a:tc>
                <a:tc>
                  <a:txBody>
                    <a:bodyPr/>
                    <a:lstStyle/>
                    <a:p>
                      <a:pPr algn="just">
                        <a:defRPr sz="1100">
                          <a:solidFill>
                            <a:srgbClr val="212121"/>
                          </a:solidFill>
                          <a:latin typeface="Times New Roman"/>
                        </a:defRPr>
                      </a:pPr>
                      <a:r>
                        <a:t>PULP-TrainLib: On-Device Deep Learning on Multi-Core RISC-V</a:t>
                      </a:r>
                    </a:p>
                  </a:txBody>
                  <a:tcPr/>
                </a:tc>
                <a:tc>
                  <a:txBody>
                    <a:bodyPr/>
                    <a:lstStyle/>
                    <a:p>
                      <a:pPr algn="just">
                        <a:defRPr sz="1100">
                          <a:solidFill>
                            <a:srgbClr val="212121"/>
                          </a:solidFill>
                          <a:latin typeface="Times New Roman"/>
                        </a:defRPr>
                      </a:pPr>
                      <a:r>
                        <a:t>IEEE TVLSI 2023</a:t>
                      </a:r>
                    </a:p>
                  </a:txBody>
                  <a:tcPr/>
                </a:tc>
                <a:tc>
                  <a:txBody>
                    <a:bodyPr/>
                    <a:lstStyle/>
                    <a:p>
                      <a:pPr algn="just">
                        <a:defRPr sz="1100">
                          <a:solidFill>
                            <a:srgbClr val="212121"/>
                          </a:solidFill>
                          <a:latin typeface="Times New Roman"/>
                        </a:defRPr>
                      </a:pPr>
                      <a:r>
                        <a:t>Optimized parallel FP16/FP32 micro-kernels for on-device backprop on ultra-low-power RISC-V clusters. Dataset: MNIST.</a:t>
                      </a:r>
                    </a:p>
                  </a:txBody>
                  <a:tcPr/>
                </a:tc>
              </a:tr>
              <a:tr h="1060704">
                <a:tc>
                  <a:txBody>
                    <a:bodyPr/>
                    <a:lstStyle/>
                    <a:p>
                      <a:pPr algn="ctr">
                        <a:defRPr sz="1100">
                          <a:solidFill>
                            <a:srgbClr val="212121"/>
                          </a:solidFill>
                          <a:latin typeface="Times New Roman"/>
                        </a:defRPr>
                      </a:pPr>
                      <a:r>
                        <a:t>4.</a:t>
                      </a:r>
                    </a:p>
                  </a:txBody>
                  <a:tcPr/>
                </a:tc>
                <a:tc>
                  <a:txBody>
                    <a:bodyPr/>
                    <a:lstStyle/>
                    <a:p>
                      <a:pPr algn="just">
                        <a:defRPr sz="1100">
                          <a:solidFill>
                            <a:srgbClr val="212121"/>
                          </a:solidFill>
                          <a:latin typeface="Times New Roman"/>
                        </a:defRPr>
                      </a:pPr>
                      <a:r>
                        <a:t>Ji Lin et al.</a:t>
                      </a:r>
                    </a:p>
                    <a:p>
                      <a:pPr>
                        <a:defRPr sz="1100">
                          <a:solidFill>
                            <a:srgbClr val="212121"/>
                          </a:solidFill>
                          <a:latin typeface="Times New Roman"/>
                        </a:defRPr>
                      </a:pPr>
                      <a:r>
                        <a:t>(MIT / IEEE)</a:t>
                      </a:r>
                    </a:p>
                  </a:txBody>
                  <a:tcPr/>
                </a:tc>
                <a:tc>
                  <a:txBody>
                    <a:bodyPr/>
                    <a:lstStyle/>
                    <a:p>
                      <a:pPr algn="ctr">
                        <a:defRPr sz="1100">
                          <a:solidFill>
                            <a:srgbClr val="212121"/>
                          </a:solidFill>
                          <a:latin typeface="Times New Roman"/>
                        </a:defRPr>
                      </a:pPr>
                      <a:r>
                        <a:t>2024</a:t>
                      </a:r>
                    </a:p>
                  </a:txBody>
                  <a:tcPr/>
                </a:tc>
                <a:tc>
                  <a:txBody>
                    <a:bodyPr/>
                    <a:lstStyle/>
                    <a:p>
                      <a:pPr algn="just">
                        <a:defRPr sz="1100">
                          <a:solidFill>
                            <a:srgbClr val="212121"/>
                          </a:solidFill>
                          <a:latin typeface="Times New Roman"/>
                        </a:defRPr>
                      </a:pPr>
                      <a:r>
                        <a:t>Tiny Machine Learning: Progress and Futures</a:t>
                      </a:r>
                    </a:p>
                  </a:txBody>
                  <a:tcPr/>
                </a:tc>
                <a:tc>
                  <a:txBody>
                    <a:bodyPr/>
                    <a:lstStyle/>
                    <a:p>
                      <a:pPr algn="just">
                        <a:defRPr sz="1100">
                          <a:solidFill>
                            <a:srgbClr val="212121"/>
                          </a:solidFill>
                          <a:latin typeface="Times New Roman"/>
                        </a:defRPr>
                      </a:pPr>
                      <a:r>
                        <a:t>IEEE CAS Mag. 2024</a:t>
                      </a:r>
                    </a:p>
                  </a:txBody>
                  <a:tcPr/>
                </a:tc>
                <a:tc>
                  <a:txBody>
                    <a:bodyPr/>
                    <a:lstStyle/>
                    <a:p>
                      <a:pPr algn="just">
                        <a:defRPr sz="1100">
                          <a:solidFill>
                            <a:srgbClr val="212121"/>
                          </a:solidFill>
                          <a:latin typeface="Times New Roman"/>
                        </a:defRPr>
                      </a:pPr>
                      <a:r>
                        <a:t>Comprehensive survey detailing the memory barrier (&lt;64KB SRAM) and future compiler-driven on-device adaptation. Dataset: MLPerf Tiny.</a:t>
                      </a:r>
                    </a:p>
                  </a:txBody>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Box 2">
            <a:extLst>
              <a:ext uri="{FF2B5EF4-FFF2-40B4-BE49-F238E27FC236}">
                <a16:creationId xmlns:a16="http://schemas.microsoft.com/office/drawing/2014/main" id="{0F5203F3-0D38-BA4E-A375-709A41E4998C}"/>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defRPr sz="3100" b="1">
                <a:solidFill>
                  <a:srgbClr val="0D47A1"/>
                </a:solidFill>
                <a:latin typeface="Times New Roman"/>
              </a:defRPr>
            </a:pPr>
            <a:r>
              <a:t>Gap Identified Through Literature / Research Gap</a:t>
            </a:r>
          </a:p>
        </p:txBody>
      </p:sp>
      <p:pic>
        <p:nvPicPr>
          <p:cNvPr id="5" name="Picture 3">
            <a:extLst>
              <a:ext uri="{FF2B5EF4-FFF2-40B4-BE49-F238E27FC236}">
                <a16:creationId xmlns:a16="http://schemas.microsoft.com/office/drawing/2014/main" id="{D6447F22-2005-F3B1-43E3-39971C325EE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TextBox 24578"/>
          <p:cNvSpPr txBox="1"/>
          <p:nvPr/>
        </p:nvSpPr>
        <p:spPr>
          <a:xfrm>
            <a:off x="612648" y="1234440"/>
            <a:ext cx="10972800" cy="5303520"/>
          </a:xfrm>
          <a:prstGeom prst="rect">
            <a:avLst/>
          </a:prstGeom>
          <a:noFill/>
        </p:spPr>
        <p:txBody>
          <a:bodyPr wrap="square" lIns="73152" rIns="73152" tIns="73152" bIns="73152">
            <a:spAutoFit/>
          </a:bodyPr>
          <a:lstStyle/>
          <a:p>
            <a:pPr algn="just">
              <a:spcAft>
                <a:spcPts val="800"/>
              </a:spcAft>
            </a:pPr>
            <a:r>
              <a:rPr sz="1350" b="1">
                <a:solidFill>
                  <a:srgbClr val="0D47A1"/>
                </a:solidFill>
                <a:latin typeface="Times New Roman"/>
              </a:rPr>
              <a:t>•  Runtime Dynamic Memory Fragility: </a:t>
            </a:r>
            <a:r>
              <a:rPr sz="1350" b="0">
                <a:solidFill>
                  <a:srgbClr val="212121"/>
                </a:solidFill>
                <a:latin typeface="Times New Roman"/>
              </a:rPr>
              <a:t>Existing on-device training libraries (such as AIfES or Micro-PyTorch ports) construct dynamic calculation graphs at runtime. On bare-metal microcontrollers without MMUs or virtual memory, dynamic heap fragmentation and non-deterministic allocation latencies severely compromise real-time safety guarantees.</a:t>
            </a:r>
          </a:p>
          <a:p>
            <a:pPr algn="just">
              <a:spcAft>
                <a:spcPts val="800"/>
              </a:spcAft>
            </a:pPr>
            <a:r>
              <a:rPr sz="1350" b="1">
                <a:solidFill>
                  <a:srgbClr val="0D47A1"/>
                </a:solidFill>
                <a:latin typeface="Times New Roman"/>
              </a:rPr>
              <a:t>•  Redundant Memory Footprint from Explicit Gradient Tensors: </a:t>
            </a:r>
            <a:r>
              <a:rPr sz="1350" b="0">
                <a:solidFill>
                  <a:srgbClr val="212121"/>
                </a:solidFill>
                <a:latin typeface="Times New Roman"/>
              </a:rPr>
              <a:t>Standard automatic differentiation engines maintain separate dedicated tensors for parameter gradients (grad_W, grad_B) and intermediate activation caches across all network layers. This doubles the storage cost of every model weight and rapidly exhausts the 16–64 KB SRAM ceiling of microcontrollers.</a:t>
            </a:r>
          </a:p>
          <a:p>
            <a:pPr algn="just">
              <a:spcAft>
                <a:spcPts val="800"/>
              </a:spcAft>
            </a:pPr>
            <a:r>
              <a:rPr sz="1350" b="1">
                <a:solidFill>
                  <a:srgbClr val="0D47A1"/>
                </a:solidFill>
                <a:latin typeface="Times New Roman"/>
              </a:rPr>
              <a:t>•  Lack of Static Arithmetic Overflow Verification: </a:t>
            </a:r>
            <a:r>
              <a:rPr sz="1350" b="0">
                <a:solidFill>
                  <a:srgbClr val="212121"/>
                </a:solidFill>
                <a:latin typeface="Times New Roman"/>
              </a:rPr>
              <a:t>Current fixed-point integer implementations lack formal compile-time interval range safety checks. Numerical overflow during forward inference or gradient accumulation causes silent catastrophic weight corruption or requires expensive runtime clamping logic that inflates execution cycles.</a:t>
            </a:r>
          </a:p>
          <a:p>
            <a:pPr algn="just">
              <a:spcAft>
                <a:spcPts val="400"/>
              </a:spcAft>
            </a:pPr>
            <a:r>
              <a:rPr sz="1350" b="1">
                <a:solidFill>
                  <a:srgbClr val="0D47A1"/>
                </a:solidFill>
                <a:latin typeface="Times New Roman"/>
              </a:rPr>
              <a:t>•  Inference-Biased Compiler Architecture: </a:t>
            </a:r>
            <a:r>
              <a:rPr sz="1350" b="0">
                <a:solidFill>
                  <a:srgbClr val="212121"/>
                </a:solidFill>
                <a:latin typeface="Times New Roman"/>
              </a:rPr>
              <a:t>Leading TinyML compilation frameworks (such as TensorFlow Lite Micro, Apache TVM/MicroTVM, and Glow) are strictly architected for forward inference graph lowering. None provide an automated pipeline that synthesizes self-contained C99 training loops with static buffer reuse and fused parameter updates.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Box 2">
            <a:extLst>
              <a:ext uri="{FF2B5EF4-FFF2-40B4-BE49-F238E27FC236}">
                <a16:creationId xmlns:a16="http://schemas.microsoft.com/office/drawing/2014/main" id="{38B03D85-76F8-EBA8-9B2C-EFBA1AE94FF2}"/>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spcBef>
                <a:spcPct val="0"/>
              </a:spcBef>
              <a:buFont typeface="Arial" panose="020B0604020202020204" pitchFamily="34" charset="0"/>
              <a:buNone/>
              <a:defRPr sz="3400" b="1">
                <a:solidFill>
                  <a:srgbClr val="0D47A1"/>
                </a:solidFill>
                <a:latin typeface="Times New Roman"/>
              </a:defRPr>
            </a:pPr>
            <a:r>
              <a:t>Methodology Adopted</a:t>
            </a:r>
            <a:endParaRPr lang="en-US" altLang="en-US" sz="44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3944891-66EA-8CB1-0D7D-573BA3ADB8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3" name="TextBox 25602"/>
          <p:cNvSpPr txBox="1"/>
          <p:nvPr/>
        </p:nvSpPr>
        <p:spPr>
          <a:xfrm>
            <a:off x="612648" y="1234440"/>
            <a:ext cx="10972800" cy="5303520"/>
          </a:xfrm>
          <a:prstGeom prst="rect">
            <a:avLst/>
          </a:prstGeom>
          <a:noFill/>
        </p:spPr>
        <p:txBody>
          <a:bodyPr wrap="square" lIns="73152" rIns="73152" tIns="73152" bIns="73152">
            <a:spAutoFit/>
          </a:bodyPr>
          <a:lstStyle/>
          <a:p>
            <a:pPr algn="just">
              <a:spcAft>
                <a:spcPts val="800"/>
              </a:spcAft>
            </a:pPr>
            <a:r>
              <a:rPr sz="1350" b="1">
                <a:solidFill>
                  <a:srgbClr val="0D47A1"/>
                </a:solidFill>
                <a:latin typeface="Times New Roman"/>
              </a:rPr>
              <a:t>•  Stage 1 — Contract Ingestion &amp; AST Normalization (ir.py): </a:t>
            </a:r>
            <a:r>
              <a:rPr sz="1350" b="0">
                <a:solidFill>
                  <a:srgbClr val="212121"/>
                </a:solidFill>
                <a:latin typeface="Times New Roman"/>
              </a:rPr>
              <a:t>Ingests declarative JSON model specifications defining layer topology, activation types (ReLU, Sigmoid), hyperparameters (learning rate eta, epochs), and embedded training samples. Enforces strict dimensional compatibility and static array contracts.</a:t>
            </a:r>
          </a:p>
          <a:p>
            <a:pPr algn="just">
              <a:spcAft>
                <a:spcPts val="800"/>
              </a:spcAft>
            </a:pPr>
            <a:r>
              <a:rPr sz="1350" b="1">
                <a:solidFill>
                  <a:srgbClr val="0D47A1"/>
                </a:solidFill>
                <a:latin typeface="Times New Roman"/>
              </a:rPr>
              <a:t>•  Stage 2 — Conservative Interval Range Analysis (analysis.py): </a:t>
            </a:r>
            <a:r>
              <a:rPr sz="1350" b="0">
                <a:solidFill>
                  <a:srgbClr val="212121"/>
                </a:solidFill>
                <a:latin typeface="Times New Roman"/>
              </a:rPr>
              <a:t>Propagates forward activation intervals and backward gradient bounds using Q15 fixed-point arithmetic [-1.0, +1.0]. Mathematically proves where fixed-point overflow is physically impossible and flags saturating operation ranges at compile time prior to code generation.</a:t>
            </a:r>
          </a:p>
          <a:p>
            <a:pPr algn="just">
              <a:spcAft>
                <a:spcPts val="800"/>
              </a:spcAft>
            </a:pPr>
            <a:r>
              <a:rPr sz="1350" b="1">
                <a:solidFill>
                  <a:srgbClr val="0D47A1"/>
                </a:solidFill>
                <a:latin typeface="Times New Roman"/>
              </a:rPr>
              <a:t>•  Stage 3 — Static Liveness Planning &amp; Gradient Fusion (memory_planner.py): </a:t>
            </a:r>
            <a:r>
              <a:rPr sz="1350" b="0">
                <a:solidFill>
                  <a:srgbClr val="212121"/>
                </a:solidFill>
                <a:latin typeface="Times New Roman"/>
              </a:rPr>
              <a:t>Conducts tensor liveness lifecycle analysis. Collapses all hidden-layer activation gradients into exactly two alternating ping-pong delta buffers. Fuses backpropagation error calculation and SGD weight updates directly in-place, completely eliminating separate grad_W and grad_B buffers.</a:t>
            </a:r>
          </a:p>
          <a:p>
            <a:pPr algn="just">
              <a:spcAft>
                <a:spcPts val="400"/>
              </a:spcAft>
            </a:pPr>
            <a:r>
              <a:rPr sz="1350" b="1">
                <a:solidFill>
                  <a:srgbClr val="0D47A1"/>
                </a:solidFill>
                <a:latin typeface="Times New Roman"/>
              </a:rPr>
              <a:t>•  Stage 4 — Standalone C99 Code Synthesis (codegen.py): </a:t>
            </a:r>
            <a:r>
              <a:rPr sz="1350" b="0">
                <a:solidFill>
                  <a:srgbClr val="212121"/>
                </a:solidFill>
                <a:latin typeface="Times New Roman"/>
              </a:rPr>
              <a:t>Emits fully self-contained, portable C99 files (mtc_model.h, mtc_model.c, mtc_train.c). All state is allocated in static, fixed-size buffers with zero heap dependencies (malloc = 0), ready for seamless integration into bare-metal firmware or RTOS tasks.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Box 2">
            <a:extLst>
              <a:ext uri="{FF2B5EF4-FFF2-40B4-BE49-F238E27FC236}">
                <a16:creationId xmlns:a16="http://schemas.microsoft.com/office/drawing/2014/main" id="{48662F21-37E9-F961-D020-A7A6FE17E7BE}"/>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spcBef>
                <a:spcPct val="0"/>
              </a:spcBef>
              <a:buFont typeface="Arial" panose="020B0604020202020204" pitchFamily="34" charset="0"/>
              <a:buNone/>
              <a:defRPr sz="3300" b="1">
                <a:solidFill>
                  <a:srgbClr val="0D47A1"/>
                </a:solidFill>
                <a:latin typeface="Times New Roman"/>
              </a:defRPr>
            </a:pPr>
            <a:r>
              <a:t>Dataset Description &amp; Edge Workloads</a:t>
            </a:r>
            <a:endParaRPr lang="en-US" altLang="en-US" sz="4400">
              <a:latin typeface="Times New Roman" panose="02020603050405020304" pitchFamily="18" charset="0"/>
              <a:cs typeface="Times New Roman" panose="02020603050405020304" pitchFamily="18" charset="0"/>
            </a:endParaRPr>
          </a:p>
        </p:txBody>
      </p:sp>
      <p:pic>
        <p:nvPicPr>
          <p:cNvPr id="5" name="Picture 3">
            <a:extLst>
              <a:ext uri="{FF2B5EF4-FFF2-40B4-BE49-F238E27FC236}">
                <a16:creationId xmlns:a16="http://schemas.microsoft.com/office/drawing/2014/main" id="{197C20EB-B5F7-B4CE-E097-1BC2C8AABC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7" name="TextBox 26626"/>
          <p:cNvSpPr txBox="1"/>
          <p:nvPr/>
        </p:nvSpPr>
        <p:spPr>
          <a:xfrm>
            <a:off x="612648" y="1234440"/>
            <a:ext cx="10972800" cy="5303520"/>
          </a:xfrm>
          <a:prstGeom prst="rect">
            <a:avLst/>
          </a:prstGeom>
          <a:noFill/>
        </p:spPr>
        <p:txBody>
          <a:bodyPr wrap="square" lIns="73152" rIns="73152" tIns="73152" bIns="73152">
            <a:spAutoFit/>
          </a:bodyPr>
          <a:lstStyle/>
          <a:p>
            <a:pPr algn="just">
              <a:spcAft>
                <a:spcPts val="800"/>
              </a:spcAft>
            </a:pPr>
            <a:r>
              <a:rPr sz="1350" b="1">
                <a:solidFill>
                  <a:srgbClr val="0D47A1"/>
                </a:solidFill>
                <a:latin typeface="Times New Roman"/>
              </a:rPr>
              <a:t>•  Workload 1 — XOR Classification Benchmark (xor_net): </a:t>
            </a:r>
            <a:r>
              <a:rPr sz="1350" b="0">
                <a:solidFill>
                  <a:srgbClr val="212121"/>
                </a:solidFill>
                <a:latin typeface="Times New Roman"/>
              </a:rPr>
              <a:t>Canonical non-linear classification test bed. Consists of 4 canonical binary samples with 2-dimensional binary inputs {0, 1} mapped to 1 target output. Evaluates non-linear separation capabilities through multi-layer perceptrons under strict integer quantization.</a:t>
            </a:r>
          </a:p>
          <a:p>
            <a:pPr algn="just">
              <a:spcAft>
                <a:spcPts val="800"/>
              </a:spcAft>
            </a:pPr>
            <a:r>
              <a:rPr sz="1350" b="1">
                <a:solidFill>
                  <a:srgbClr val="0D47A1"/>
                </a:solidFill>
                <a:latin typeface="Times New Roman"/>
              </a:rPr>
              <a:t>•  Workload 2 — Multi-Channel Environmental Drift Calibration (sensor_drift_net): </a:t>
            </a:r>
            <a:r>
              <a:rPr sz="1350" b="0">
                <a:solidFill>
                  <a:srgbClr val="212121"/>
                </a:solidFill>
                <a:latin typeface="Times New Roman"/>
              </a:rPr>
              <a:t>Simulates continuous sensor recalibration against environmental aging. Ingests 4 continuous sensor channels (temperature, humidity, atmospheric pressure, and gas resistance) to predict a continuous calibration offset across 8 multi-condition calibration vectors.</a:t>
            </a:r>
          </a:p>
          <a:p>
            <a:pPr algn="just">
              <a:spcAft>
                <a:spcPts val="800"/>
              </a:spcAft>
            </a:pPr>
            <a:r>
              <a:rPr sz="1350" b="1">
                <a:solidFill>
                  <a:srgbClr val="0D47A1"/>
                </a:solidFill>
                <a:latin typeface="Times New Roman"/>
              </a:rPr>
              <a:t>•  Workload 3 — Continuous Function Approximation (sine_regression_net): </a:t>
            </a:r>
            <a:r>
              <a:rPr sz="1350" b="0">
                <a:solidFill>
                  <a:srgbClr val="212121"/>
                </a:solidFill>
                <a:latin typeface="Times New Roman"/>
              </a:rPr>
              <a:t>Tests non-linear function fitting over a continuous domain. Evaluates 16 uniform spatial samples spanning [0, 2*pi] mapped to Q15 fixed-point values [-32768, 32767], testing gradient stability during smooth regression tasks (y = sin x).</a:t>
            </a:r>
          </a:p>
          <a:p>
            <a:pPr algn="just">
              <a:spcAft>
                <a:spcPts val="800"/>
              </a:spcAft>
            </a:pPr>
            <a:r>
              <a:rPr sz="1350" b="1">
                <a:solidFill>
                  <a:srgbClr val="0D47A1"/>
                </a:solidFill>
                <a:latin typeface="Times New Roman"/>
              </a:rPr>
              <a:t>•  Workload 4 — 3-Axis IMU Gesture Anomaly Detection (gesture_anomaly_net): </a:t>
            </a:r>
            <a:r>
              <a:rPr sz="1350" b="0">
                <a:solidFill>
                  <a:srgbClr val="212121"/>
                </a:solidFill>
                <a:latin typeface="Times New Roman"/>
              </a:rPr>
              <a:t>Continuous edge anomaly detection on wearable hardware. Comprises 12 continuous motion vectors representing normalized 3-axis accelerometer readings [ax, ay, az] mapped to binary anomaly labels (0 = nominal gesture, 1 = anomalous movement).</a:t>
            </a:r>
          </a:p>
          <a:p>
            <a:pPr algn="just">
              <a:spcAft>
                <a:spcPts val="400"/>
              </a:spcAft>
            </a:pPr>
            <a:r>
              <a:rPr sz="1350" b="1">
                <a:solidFill>
                  <a:srgbClr val="0D47A1"/>
                </a:solidFill>
                <a:latin typeface="Times New Roman"/>
              </a:rPr>
              <a:t>•  Fixed-Point Data Preprocessing &amp; Storage Format: </a:t>
            </a:r>
            <a:r>
              <a:rPr sz="1350" b="0">
                <a:solidFill>
                  <a:srgbClr val="212121"/>
                </a:solidFill>
                <a:latin typeface="Times New Roman"/>
              </a:rPr>
              <a:t>All floating-point inputs and labels are pre-quantized into signed 16-bit fixed-point format (Q15 format: 1 sign bit, 15 fractional bits; range -1.0 to +0.9999). Samples are compiled as constant lookup tables in flash memory, consuming zero SRAM for training datasets.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extBox 2">
            <a:extLst>
              <a:ext uri="{FF2B5EF4-FFF2-40B4-BE49-F238E27FC236}">
                <a16:creationId xmlns:a16="http://schemas.microsoft.com/office/drawing/2014/main" id="{44B2EBFD-FB3A-2DC9-F438-A8E2D354E10A}"/>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defRPr sz="3200" b="1">
                <a:solidFill>
                  <a:srgbClr val="0D47A1"/>
                </a:solidFill>
                <a:latin typeface="Times New Roman"/>
              </a:defRPr>
            </a:pPr>
            <a:r>
              <a:t>System Architecture &amp; Compiler Dataflow</a:t>
            </a:r>
          </a:p>
        </p:txBody>
      </p:sp>
      <p:pic>
        <p:nvPicPr>
          <p:cNvPr id="4" name="Picture 3">
            <a:extLst>
              <a:ext uri="{FF2B5EF4-FFF2-40B4-BE49-F238E27FC236}">
                <a16:creationId xmlns:a16="http://schemas.microsoft.com/office/drawing/2014/main" id="{36DE2B51-FDFD-2574-0EDF-B756EF8D713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1" name="Picture 27650" descr="system_architecture.png"/>
          <p:cNvPicPr>
            <a:picLocks noChangeAspect="1"/>
          </p:cNvPicPr>
          <p:nvPr/>
        </p:nvPicPr>
        <p:blipFill>
          <a:blip r:embed="rId3"/>
          <a:stretch>
            <a:fillRect/>
          </a:stretch>
        </p:blipFill>
        <p:spPr>
          <a:xfrm>
            <a:off x="1005840" y="1143000"/>
            <a:ext cx="10149840" cy="3566160"/>
          </a:xfrm>
          <a:prstGeom prst="rect">
            <a:avLst/>
          </a:prstGeom>
        </p:spPr>
      </p:pic>
      <p:sp>
        <p:nvSpPr>
          <p:cNvPr id="27652" name="TextBox 27651"/>
          <p:cNvSpPr txBox="1"/>
          <p:nvPr/>
        </p:nvSpPr>
        <p:spPr>
          <a:xfrm>
            <a:off x="612648" y="4892040"/>
            <a:ext cx="10972800" cy="1645920"/>
          </a:xfrm>
          <a:prstGeom prst="rect">
            <a:avLst/>
          </a:prstGeom>
          <a:noFill/>
        </p:spPr>
        <p:txBody>
          <a:bodyPr wrap="square" lIns="73152" rIns="73152" tIns="73152" bIns="73152">
            <a:spAutoFit/>
          </a:bodyPr>
          <a:lstStyle/>
          <a:p>
            <a:pPr algn="just">
              <a:spcAft>
                <a:spcPts val="400"/>
              </a:spcAft>
            </a:pPr>
            <a:r>
              <a:rPr sz="1300" b="1">
                <a:solidFill>
                  <a:srgbClr val="0D47A1"/>
                </a:solidFill>
                <a:latin typeface="Times New Roman"/>
              </a:rPr>
              <a:t>•  End-to-End Architectural Dataflow: </a:t>
            </a:r>
            <a:r>
              <a:rPr sz="1300" b="0">
                <a:solidFill>
                  <a:srgbClr val="212121"/>
                </a:solidFill>
                <a:latin typeface="Times New Roman"/>
              </a:rPr>
              <a:t>The input specification undergoes frontend validation and AST construction, passes through conservative Q15 interval propagation, and enters the static liveness planner. The backend synthesizes zero-heap C99 code cross-compiled with riscv64-unknown-elf-gcc and executed on cycle-accurate esp32sim hardware emulation.</a:t>
            </a:r>
          </a:p>
          <a:p>
            <a:pPr algn="just">
              <a:spcAft>
                <a:spcPts val="200"/>
              </a:spcAft>
            </a:pPr>
            <a:r>
              <a:rPr sz="1300" b="1">
                <a:solidFill>
                  <a:srgbClr val="0D47A1"/>
                </a:solidFill>
                <a:latin typeface="Times New Roman"/>
              </a:rPr>
              <a:t>•  Embedded Hardware Execution Target: </a:t>
            </a:r>
            <a:r>
              <a:rPr sz="1300" b="0">
                <a:solidFill>
                  <a:srgbClr val="212121"/>
                </a:solidFill>
                <a:latin typeface="Times New Roman"/>
              </a:rPr>
              <a:t>Firmware wrapper (entry.S, linker.ld, main.c) boots bare-metal on ESP32-C3 (160 MHz RV32IMC) with cycle-exact performance monitored directly via the hardware CSR mcycle counter.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Box 2">
            <a:extLst>
              <a:ext uri="{FF2B5EF4-FFF2-40B4-BE49-F238E27FC236}">
                <a16:creationId xmlns:a16="http://schemas.microsoft.com/office/drawing/2014/main" id="{122C4529-D8A9-6C88-31B3-47171C41818A}"/>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spcBef>
                <a:spcPct val="0"/>
              </a:spcBef>
              <a:buFont typeface="Arial" panose="020B0604020202020204" pitchFamily="34" charset="0"/>
              <a:buNone/>
              <a:defRPr sz="3200" b="1">
                <a:solidFill>
                  <a:srgbClr val="0D47A1"/>
                </a:solidFill>
                <a:latin typeface="Times New Roman"/>
              </a:defRPr>
            </a:pPr>
            <a:r>
              <a:t>Tools, Technologies &amp; Experimental Setup</a:t>
            </a:r>
            <a:endParaRPr lang="en-US" altLang="en-US" sz="360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91967106-6B05-7AA0-18DD-D6CB65EACC8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5" name="TextBox 28674"/>
          <p:cNvSpPr txBox="1"/>
          <p:nvPr/>
        </p:nvSpPr>
        <p:spPr>
          <a:xfrm>
            <a:off x="612648" y="1234440"/>
            <a:ext cx="10972800" cy="5303520"/>
          </a:xfrm>
          <a:prstGeom prst="rect">
            <a:avLst/>
          </a:prstGeom>
          <a:noFill/>
        </p:spPr>
        <p:txBody>
          <a:bodyPr wrap="square" lIns="73152" rIns="73152" tIns="73152" bIns="73152">
            <a:spAutoFit/>
          </a:bodyPr>
          <a:lstStyle/>
          <a:p>
            <a:pPr algn="just">
              <a:spcAft>
                <a:spcPts val="800"/>
              </a:spcAft>
            </a:pPr>
            <a:r>
              <a:rPr sz="1350" b="1">
                <a:solidFill>
                  <a:srgbClr val="0D47A1"/>
                </a:solidFill>
                <a:latin typeface="Times New Roman"/>
              </a:rPr>
              <a:t>•  Host Compiler Implementation &amp; Toolchain: </a:t>
            </a:r>
            <a:r>
              <a:rPr sz="1350" b="0">
                <a:solidFill>
                  <a:srgbClr val="212121"/>
                </a:solidFill>
                <a:latin typeface="Times New Roman"/>
              </a:rPr>
              <a:t>Developed entirely in modular Python 3.10+ using only standard library modules to eliminate external host dependencies. Host baseline compilation and sanity testing performed using native GCC 15.3.0 (-std=c99 -O2 -Wall -Wextra).</a:t>
            </a:r>
          </a:p>
          <a:p>
            <a:pPr algn="just">
              <a:spcAft>
                <a:spcPts val="800"/>
              </a:spcAft>
            </a:pPr>
            <a:r>
              <a:rPr sz="1350" b="1">
                <a:solidFill>
                  <a:srgbClr val="0D47A1"/>
                </a:solidFill>
                <a:latin typeface="Times New Roman"/>
              </a:rPr>
              <a:t>•  Embedded Cross-Compilation &amp; Flash Tooling: </a:t>
            </a:r>
            <a:r>
              <a:rPr sz="1350" b="0">
                <a:solidFill>
                  <a:srgbClr val="212121"/>
                </a:solidFill>
                <a:latin typeface="Times New Roman"/>
              </a:rPr>
              <a:t>Bare-metal RISC-V compilation uses riscv64-unknown-elf-gcc v15.3.0 targeting RV32IMC architecture (-march=rv32imc_zicsr -mabi=ilp32 -nostdlib -O2). Bootable flash images generated using Espressif esptool (v5.6.0 elf2image).</a:t>
            </a:r>
          </a:p>
          <a:p>
            <a:pPr algn="just">
              <a:spcAft>
                <a:spcPts val="800"/>
              </a:spcAft>
            </a:pPr>
            <a:r>
              <a:rPr sz="1350" b="1">
                <a:solidFill>
                  <a:srgbClr val="0D47A1"/>
                </a:solidFill>
                <a:latin typeface="Times New Roman"/>
              </a:rPr>
              <a:t>•  Hardware Emulation &amp; Cycle-Accurate Simulator: </a:t>
            </a:r>
            <a:r>
              <a:rPr sz="1350" b="0">
                <a:solidFill>
                  <a:srgbClr val="212121"/>
                </a:solidFill>
                <a:latin typeface="Times New Roman"/>
              </a:rPr>
              <a:t>Executed on esp32sim, a cycle-accurate, Rust-based hardware emulator for ESP32-C3 executing genuine Espressif mask ROM ELFs, memory-mapped UART FIFO registers (0x60000000), and internal CPU busses without physical hardware jitter.</a:t>
            </a:r>
          </a:p>
          <a:p>
            <a:pPr algn="just">
              <a:spcAft>
                <a:spcPts val="800"/>
              </a:spcAft>
            </a:pPr>
            <a:r>
              <a:rPr sz="1350" b="1">
                <a:solidFill>
                  <a:srgbClr val="0D47A1"/>
                </a:solidFill>
                <a:latin typeface="Times New Roman"/>
              </a:rPr>
              <a:t>•  Direct Hardware CSR mcycle Instrumentation: </a:t>
            </a:r>
            <a:r>
              <a:rPr sz="1350" b="0">
                <a:solidFill>
                  <a:srgbClr val="212121"/>
                </a:solidFill>
                <a:latin typeface="Times New Roman"/>
              </a:rPr>
              <a:t>To eliminate UART serial output serialization overhead and emulator shutdown delays, CPU cycle counts are measured directly using RISC-V Control and Status Register instructions (csrr %0, mcycle) surrounding forward and backward passes.</a:t>
            </a:r>
          </a:p>
          <a:p>
            <a:pPr algn="just">
              <a:spcAft>
                <a:spcPts val="400"/>
              </a:spcAft>
            </a:pPr>
            <a:r>
              <a:rPr sz="1350" b="1">
                <a:solidFill>
                  <a:srgbClr val="0D47A1"/>
                </a:solidFill>
                <a:latin typeface="Times New Roman"/>
              </a:rPr>
              <a:t>•  Online Interactive Prototyping Platform: </a:t>
            </a:r>
            <a:r>
              <a:rPr sz="1350" b="0">
                <a:solidFill>
                  <a:srgbClr val="212121"/>
                </a:solidFill>
                <a:latin typeface="Times New Roman"/>
              </a:rPr>
              <a:t>Target verification also configured for Wokwi ESP32 Web Simulator with serial teleplot integration for real-time loss visualization in web browsers.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extBox 2">
            <a:extLst>
              <a:ext uri="{FF2B5EF4-FFF2-40B4-BE49-F238E27FC236}">
                <a16:creationId xmlns:a16="http://schemas.microsoft.com/office/drawing/2014/main" id="{B8A9BDC4-8197-ADB5-69F7-BC602CC70279}"/>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spcBef>
                <a:spcPct val="0"/>
              </a:spcBef>
              <a:buFont typeface="Arial" panose="020B0604020202020204" pitchFamily="34" charset="0"/>
              <a:buNone/>
              <a:defRPr sz="3400" b="1">
                <a:solidFill>
                  <a:srgbClr val="0D47A1"/>
                </a:solidFill>
                <a:latin typeface="Times New Roman"/>
              </a:defRPr>
            </a:pPr>
            <a:r>
              <a:t>Snapshots &amp; Empirical Observations</a:t>
            </a:r>
          </a:p>
        </p:txBody>
      </p:sp>
      <p:pic>
        <p:nvPicPr>
          <p:cNvPr id="4" name="Picture 3">
            <a:extLst>
              <a:ext uri="{FF2B5EF4-FFF2-40B4-BE49-F238E27FC236}">
                <a16:creationId xmlns:a16="http://schemas.microsoft.com/office/drawing/2014/main" id="{55BA4F99-D5C2-EC33-C168-CED131000C2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29698" descr="combined_convergence.png"/>
          <p:cNvPicPr>
            <a:picLocks noChangeAspect="1"/>
          </p:cNvPicPr>
          <p:nvPr/>
        </p:nvPicPr>
        <p:blipFill>
          <a:blip r:embed="rId3"/>
          <a:stretch>
            <a:fillRect/>
          </a:stretch>
        </p:blipFill>
        <p:spPr>
          <a:xfrm>
            <a:off x="457200" y="1188720"/>
            <a:ext cx="5486400" cy="3048000"/>
          </a:xfrm>
          <a:prstGeom prst="rect">
            <a:avLst/>
          </a:prstGeom>
        </p:spPr>
      </p:pic>
      <p:pic>
        <p:nvPicPr>
          <p:cNvPr id="29700" name="Picture 29699" descr="hardware_throughput.png"/>
          <p:cNvPicPr>
            <a:picLocks noChangeAspect="1"/>
          </p:cNvPicPr>
          <p:nvPr/>
        </p:nvPicPr>
        <p:blipFill>
          <a:blip r:embed="rId4"/>
          <a:stretch>
            <a:fillRect/>
          </a:stretch>
        </p:blipFill>
        <p:spPr>
          <a:xfrm>
            <a:off x="6217920" y="1188720"/>
            <a:ext cx="5486400" cy="2743200"/>
          </a:xfrm>
          <a:prstGeom prst="rect">
            <a:avLst/>
          </a:prstGeom>
        </p:spPr>
      </p:pic>
      <p:sp>
        <p:nvSpPr>
          <p:cNvPr id="29701" name="TextBox 29700"/>
          <p:cNvSpPr txBox="1"/>
          <p:nvPr/>
        </p:nvSpPr>
        <p:spPr>
          <a:xfrm>
            <a:off x="457200" y="4892040"/>
            <a:ext cx="11274552" cy="1645920"/>
          </a:xfrm>
          <a:prstGeom prst="rect">
            <a:avLst/>
          </a:prstGeom>
          <a:noFill/>
        </p:spPr>
        <p:txBody>
          <a:bodyPr wrap="square" lIns="73152" rIns="73152" tIns="73152" bIns="73152">
            <a:spAutoFit/>
          </a:bodyPr>
          <a:lstStyle/>
          <a:p>
            <a:pPr algn="just">
              <a:spcAft>
                <a:spcPts val="400"/>
              </a:spcAft>
            </a:pPr>
            <a:r>
              <a:rPr sz="1250" b="1">
                <a:solidFill>
                  <a:srgbClr val="0D47A1"/>
                </a:solidFill>
                <a:latin typeface="Times New Roman"/>
              </a:rPr>
              <a:t>•  Empirical Loss Convergence (Left Figure): </a:t>
            </a:r>
            <a:r>
              <a:rPr sz="1250" b="0">
                <a:solidFill>
                  <a:srgbClr val="212121"/>
                </a:solidFill>
                <a:latin typeface="Times New Roman"/>
              </a:rPr>
              <a:t>Visualizes training loss curves across all four TinyML models on esp32sim. Loss drops monotonically without numerical instability or overflow: gesture_anomaly_net achieves an 81.8% loss drop, sine_regression_net achieves 75.9%, and sensor_drift_net achieves 51.6%.</a:t>
            </a:r>
          </a:p>
          <a:p>
            <a:pPr algn="just">
              <a:spcAft>
                <a:spcPts val="200"/>
              </a:spcAft>
            </a:pPr>
            <a:r>
              <a:rPr sz="1250" b="1">
                <a:solidFill>
                  <a:srgbClr val="0D47A1"/>
                </a:solidFill>
                <a:latin typeface="Times New Roman"/>
              </a:rPr>
              <a:t>•  Hardware Training Throughput (Right Figure): </a:t>
            </a:r>
            <a:r>
              <a:rPr sz="1250" b="0">
                <a:solidFill>
                  <a:srgbClr val="212121"/>
                </a:solidFill>
                <a:latin typeface="Times New Roman"/>
              </a:rPr>
              <a:t>Measured on ESP32-C3 @ 160 MHz via hardware CSR mcycle. Shows high sample training throughput ranging from 12,229 to 145,772 samples/second, proving on-device learning executes in microseconds without starving real-time sensing loops.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Box 2">
            <a:extLst>
              <a:ext uri="{FF2B5EF4-FFF2-40B4-BE49-F238E27FC236}">
                <a16:creationId xmlns:a16="http://schemas.microsoft.com/office/drawing/2014/main" id="{4A08D8C7-5760-CF34-30A8-46C344F1D220}"/>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spcBef>
                <a:spcPct val="0"/>
              </a:spcBef>
              <a:buFont typeface="Arial" panose="020B0604020202020204" pitchFamily="34" charset="0"/>
              <a:buNone/>
              <a:defRPr sz="3300" b="1">
                <a:solidFill>
                  <a:srgbClr val="0D47A1"/>
                </a:solidFill>
                <a:latin typeface="Times New Roman"/>
              </a:defRPr>
            </a:pPr>
            <a:r>
              <a:t>Experiments &amp; Quantitative Results</a:t>
            </a:r>
          </a:p>
        </p:txBody>
      </p:sp>
      <p:pic>
        <p:nvPicPr>
          <p:cNvPr id="5" name="Picture 3">
            <a:extLst>
              <a:ext uri="{FF2B5EF4-FFF2-40B4-BE49-F238E27FC236}">
                <a16:creationId xmlns:a16="http://schemas.microsoft.com/office/drawing/2014/main" id="{43CCEAE1-4CE7-2E04-0CB8-484F75757FB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3" name="Picture 30722" descr="memory_ablation.png"/>
          <p:cNvPicPr>
            <a:picLocks noChangeAspect="1"/>
          </p:cNvPicPr>
          <p:nvPr/>
        </p:nvPicPr>
        <p:blipFill>
          <a:blip r:embed="rId3"/>
          <a:stretch>
            <a:fillRect/>
          </a:stretch>
        </p:blipFill>
        <p:spPr>
          <a:xfrm>
            <a:off x="457200" y="1234440"/>
            <a:ext cx="5120640" cy="2560320"/>
          </a:xfrm>
          <a:prstGeom prst="rect">
            <a:avLst/>
          </a:prstGeom>
        </p:spPr>
      </p:pic>
      <p:sp>
        <p:nvSpPr>
          <p:cNvPr id="30724" name="TextBox 30723"/>
          <p:cNvSpPr txBox="1"/>
          <p:nvPr/>
        </p:nvSpPr>
        <p:spPr>
          <a:xfrm>
            <a:off x="5760720" y="1234440"/>
            <a:ext cx="5943600" cy="5303520"/>
          </a:xfrm>
          <a:prstGeom prst="rect">
            <a:avLst/>
          </a:prstGeom>
          <a:noFill/>
        </p:spPr>
        <p:txBody>
          <a:bodyPr wrap="square" lIns="73152" rIns="73152" tIns="73152" bIns="73152">
            <a:spAutoFit/>
          </a:bodyPr>
          <a:lstStyle/>
          <a:p>
            <a:pPr algn="just">
              <a:spcAft>
                <a:spcPts val="600"/>
              </a:spcAft>
            </a:pPr>
            <a:r>
              <a:rPr sz="1250" b="1">
                <a:solidFill>
                  <a:srgbClr val="0D47A1"/>
                </a:solidFill>
                <a:latin typeface="Times New Roman"/>
              </a:rPr>
              <a:t>•  Static Memory Watermark &amp; Zero Heap: </a:t>
            </a:r>
            <a:r>
              <a:rPr sz="1250" b="0">
                <a:solidFill>
                  <a:srgbClr val="212121"/>
                </a:solidFill>
                <a:latin typeface="Times New Roman"/>
              </a:rPr>
              <a:t>Peak SRAM consumption across all four models is strictly bounded between 60 Bytes and 564 Bytes (&lt; 0.86% of the 64 KB ESP32-C3 SRAM budget). Dynamic heap allocations are identically zero (malloc = 0).</a:t>
            </a:r>
          </a:p>
          <a:p>
            <a:pPr algn="just">
              <a:spcAft>
                <a:spcPts val="600"/>
              </a:spcAft>
            </a:pPr>
            <a:r>
              <a:rPr sz="1250" b="1">
                <a:solidFill>
                  <a:srgbClr val="0D47A1"/>
                </a:solidFill>
                <a:latin typeface="Times New Roman"/>
              </a:rPr>
              <a:t>•  Peak SRAM Ablation vs. Dynamic Autograd: </a:t>
            </a:r>
            <a:r>
              <a:rPr sz="1250" b="0">
                <a:solidFill>
                  <a:srgbClr val="212121"/>
                </a:solidFill>
                <a:latin typeface="Times New Roman"/>
              </a:rPr>
              <a:t>MTC saves 31.8% to 43.6% peak SRAM compared to standard autograd graphs (PyTorch/AIfES style) by reusing 2 ping-pong delta buffers and updating weights in-place without explicit parameter gradient arrays (grad_W, grad_B).</a:t>
            </a:r>
          </a:p>
          <a:p>
            <a:pPr algn="just">
              <a:spcAft>
                <a:spcPts val="600"/>
              </a:spcAft>
            </a:pPr>
            <a:r>
              <a:rPr sz="1250" b="1">
                <a:solidFill>
                  <a:srgbClr val="0D47A1"/>
                </a:solidFill>
                <a:latin typeface="Times New Roman"/>
              </a:rPr>
              <a:t>•  Cycle-Accurate Hardware Timing (mcycle): </a:t>
            </a:r>
            <a:r>
              <a:rPr sz="1250" b="0">
                <a:solidFill>
                  <a:srgbClr val="212121"/>
                </a:solidFill>
                <a:latin typeface="Times New Roman"/>
              </a:rPr>
              <a:t>• Forward Inference: 2.15 µs (344 cyc) to 21.26 µs (3,401 cyc).
• Full Training Step: 6.86 µs (1,097 cyc) to 81.77 µs (13,083 cyc).
• Microcontroller clock: 160 MHz RV32IMC core.</a:t>
            </a:r>
          </a:p>
          <a:p>
            <a:pPr algn="just">
              <a:spcAft>
                <a:spcPts val="200"/>
              </a:spcAft>
            </a:pPr>
            <a:r>
              <a:rPr sz="1250" b="1">
                <a:solidFill>
                  <a:srgbClr val="0D47A1"/>
                </a:solidFill>
                <a:latin typeface="Times New Roman"/>
              </a:rPr>
              <a:t>•  Academic Transparency &amp; Limitation Note: </a:t>
            </a:r>
            <a:r>
              <a:rPr sz="1250" b="0">
                <a:solidFill>
                  <a:srgbClr val="212121"/>
                </a:solidFill>
                <a:latin typeface="Times New Roman"/>
              </a:rPr>
              <a:t>xor_net achieved a 24.57% loss reduction; fixed-point Q15 gradient updates through saturating activations experience integer attenuation. In contrast, continuous regression models converge smoothly with up to 81.8% error reduction.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extBox 2">
            <a:extLst>
              <a:ext uri="{FF2B5EF4-FFF2-40B4-BE49-F238E27FC236}">
                <a16:creationId xmlns:a16="http://schemas.microsoft.com/office/drawing/2014/main" id="{D8F9347F-955B-61E5-F6B2-4AE6B8D5D546}"/>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defRPr sz="3300" b="1">
                <a:solidFill>
                  <a:srgbClr val="0D47A1"/>
                </a:solidFill>
                <a:latin typeface="Times New Roman"/>
              </a:defRPr>
            </a:pPr>
            <a:r>
              <a:t>Conclusion &amp; Objectives Achieved</a:t>
            </a:r>
          </a:p>
        </p:txBody>
      </p:sp>
      <p:pic>
        <p:nvPicPr>
          <p:cNvPr id="4" name="Picture 3">
            <a:extLst>
              <a:ext uri="{FF2B5EF4-FFF2-40B4-BE49-F238E27FC236}">
                <a16:creationId xmlns:a16="http://schemas.microsoft.com/office/drawing/2014/main" id="{853206E2-8A73-7AA9-7247-1F36C54384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Box 31746"/>
          <p:cNvSpPr txBox="1"/>
          <p:nvPr/>
        </p:nvSpPr>
        <p:spPr>
          <a:xfrm>
            <a:off x="612648" y="1234440"/>
            <a:ext cx="10972800" cy="5303520"/>
          </a:xfrm>
          <a:prstGeom prst="rect">
            <a:avLst/>
          </a:prstGeom>
          <a:noFill/>
        </p:spPr>
        <p:txBody>
          <a:bodyPr wrap="square" lIns="73152" rIns="73152" tIns="73152" bIns="73152">
            <a:spAutoFit/>
          </a:bodyPr>
          <a:lstStyle/>
          <a:p>
            <a:pPr algn="just">
              <a:spcAft>
                <a:spcPts val="800"/>
              </a:spcAft>
            </a:pPr>
            <a:r>
              <a:rPr sz="1350" b="1">
                <a:solidFill>
                  <a:srgbClr val="0D47A1"/>
                </a:solidFill>
                <a:latin typeface="Times New Roman"/>
              </a:rPr>
              <a:t>•  Successful Compiler Design &amp; Realization: </a:t>
            </a:r>
            <a:r>
              <a:rPr sz="1350" b="0">
                <a:solidFill>
                  <a:srgbClr val="212121"/>
                </a:solidFill>
                <a:latin typeface="Times New Roman"/>
              </a:rPr>
              <a:t>Successfully developed and verified the Micro-Train-Compiler (MTC), proving that true on-device reverse-mode automatic differentiation and SGD training are viable on cost-effective, sub-$1 microcontrollers.</a:t>
            </a:r>
          </a:p>
          <a:p>
            <a:pPr algn="just">
              <a:spcAft>
                <a:spcPts val="800"/>
              </a:spcAft>
            </a:pPr>
            <a:r>
              <a:rPr sz="1350" b="1">
                <a:solidFill>
                  <a:srgbClr val="0D47A1"/>
                </a:solidFill>
                <a:latin typeface="Times New Roman"/>
              </a:rPr>
              <a:t>•  Zero-Heap Embedded Safety Milestone: </a:t>
            </a:r>
            <a:r>
              <a:rPr sz="1350" b="0">
                <a:solidFill>
                  <a:srgbClr val="212121"/>
                </a:solidFill>
                <a:latin typeface="Times New Roman"/>
              </a:rPr>
              <a:t>Eliminated runtime heap allocation entirely (malloc = 0), ensuring rock-solid deterministic execution and immune to out-of-memory crashes on resource-constrained embedded nodes.</a:t>
            </a:r>
          </a:p>
          <a:p>
            <a:pPr algn="just">
              <a:spcAft>
                <a:spcPts val="800"/>
              </a:spcAft>
            </a:pPr>
            <a:r>
              <a:rPr sz="1350" b="1">
                <a:solidFill>
                  <a:srgbClr val="0D47A1"/>
                </a:solidFill>
                <a:latin typeface="Times New Roman"/>
              </a:rPr>
              <a:t>•  Quantified Memory Optimization Achieved: </a:t>
            </a:r>
            <a:r>
              <a:rPr sz="1350" b="0">
                <a:solidFill>
                  <a:srgbClr val="212121"/>
                </a:solidFill>
                <a:latin typeface="Times New Roman"/>
              </a:rPr>
              <a:t>Demonstrated peak SRAM footprint between 60 B and 564 B, achieving a 31.8% to 43.6% reduction in peak SRAM watermark against conventional autograd graph implementations.</a:t>
            </a:r>
          </a:p>
          <a:p>
            <a:pPr algn="just">
              <a:spcAft>
                <a:spcPts val="800"/>
              </a:spcAft>
            </a:pPr>
            <a:r>
              <a:rPr sz="1350" b="1">
                <a:solidFill>
                  <a:srgbClr val="0D47A1"/>
                </a:solidFill>
                <a:latin typeface="Times New Roman"/>
              </a:rPr>
              <a:t>•  Cycle-Accurate Hardware Verification: </a:t>
            </a:r>
            <a:r>
              <a:rPr sz="1350" b="0">
                <a:solidFill>
                  <a:srgbClr val="212121"/>
                </a:solidFill>
                <a:latin typeface="Times New Roman"/>
              </a:rPr>
              <a:t>Empirically validated sub-85 µs on-device training steps on ESP32-C3 RISC-V @ 160 MHz via hardware CSR mcycle counters, proving that continual edge adaptation is computationally non-intrusive.</a:t>
            </a:r>
          </a:p>
          <a:p>
            <a:pPr algn="just">
              <a:spcAft>
                <a:spcPts val="400"/>
              </a:spcAft>
            </a:pPr>
            <a:r>
              <a:rPr sz="1350" b="1">
                <a:solidFill>
                  <a:srgbClr val="0D47A1"/>
                </a:solidFill>
                <a:latin typeface="Times New Roman"/>
              </a:rPr>
              <a:t>•  Future Roadmap for Academic Publication: </a:t>
            </a:r>
            <a:r>
              <a:rPr sz="1350" b="0">
                <a:solidFill>
                  <a:srgbClr val="212121"/>
                </a:solidFill>
                <a:latin typeface="Times New Roman"/>
              </a:rPr>
              <a:t>Extending MTC to support convolutional 1D/2D layers for vision/audio TinyML workloads and preparing empirical evaluation for submission to IEEE Embedded Systems Letters / TinyML Symposium.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Box 2">
            <a:extLst>
              <a:ext uri="{FF2B5EF4-FFF2-40B4-BE49-F238E27FC236}">
                <a16:creationId xmlns:a16="http://schemas.microsoft.com/office/drawing/2014/main" id="{8AE34FAB-A582-424F-7D83-2C88B705CCFB}"/>
              </a:ext>
            </a:extLst>
          </p:cNvPr>
          <p:cNvSpPr txBox="1">
            <a:spLocks noChangeArrowheads="1"/>
          </p:cNvSpPr>
          <p:nvPr/>
        </p:nvSpPr>
        <p:spPr bwMode="auto">
          <a:xfrm>
            <a:off x="457200" y="228600"/>
            <a:ext cx="9144000" cy="731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400">
                <a:solidFill>
                  <a:schemeClr val="tx1"/>
                </a:solidFill>
                <a:latin typeface="Trebuchet MS" panose="020B0603020202020204" pitchFamily="34" charset="0"/>
              </a:defRPr>
            </a:lvl1pPr>
            <a:lvl2pPr marL="742950" indent="-285750">
              <a:lnSpc>
                <a:spcPct val="90000"/>
              </a:lnSpc>
              <a:spcBef>
                <a:spcPts val="500"/>
              </a:spcBef>
              <a:buFont typeface="Arial" panose="020B0604020202020204" pitchFamily="34" charset="0"/>
              <a:buChar char="•"/>
              <a:defRPr sz="2000">
                <a:solidFill>
                  <a:schemeClr val="tx1"/>
                </a:solidFill>
                <a:latin typeface="Trebuchet MS" panose="020B0603020202020204" pitchFamily="34" charset="0"/>
              </a:defRPr>
            </a:lvl2pPr>
            <a:lvl3pPr marL="1143000" indent="-228600">
              <a:lnSpc>
                <a:spcPct val="90000"/>
              </a:lnSpc>
              <a:spcBef>
                <a:spcPts val="500"/>
              </a:spcBef>
              <a:buFont typeface="Arial" panose="020B0604020202020204" pitchFamily="34" charset="0"/>
              <a:buChar char="•"/>
              <a:defRPr>
                <a:solidFill>
                  <a:schemeClr val="tx1"/>
                </a:solidFill>
                <a:latin typeface="Trebuchet MS" panose="020B0603020202020204" pitchFamily="34" charset="0"/>
              </a:defRPr>
            </a:lvl3pPr>
            <a:lvl4pPr marL="16002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4pPr>
            <a:lvl5pPr marL="2057400" indent="-228600">
              <a:lnSpc>
                <a:spcPct val="90000"/>
              </a:lnSpc>
              <a:spcBef>
                <a:spcPts val="500"/>
              </a:spcBef>
              <a:buFont typeface="Arial" panose="020B0604020202020204" pitchFamily="34" charset="0"/>
              <a:buChar char="•"/>
              <a:defRPr sz="1600">
                <a:solidFill>
                  <a:schemeClr val="tx1"/>
                </a:solidFill>
                <a:latin typeface="Trebuchet MS" panose="020B060302020202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1600">
                <a:solidFill>
                  <a:schemeClr val="tx1"/>
                </a:solidFill>
                <a:latin typeface="Trebuchet MS" panose="020B0603020202020204" pitchFamily="34" charset="0"/>
              </a:defRPr>
            </a:lvl9pPr>
          </a:lstStyle>
          <a:p>
            <a:pPr eaLnBrk="1" hangingPunct="1">
              <a:lnSpc>
                <a:spcPct val="100000"/>
              </a:lnSpc>
              <a:spcBef>
                <a:spcPct val="0"/>
              </a:spcBef>
              <a:buFontTx/>
              <a:buNone/>
              <a:defRPr sz="3400" b="1">
                <a:solidFill>
                  <a:srgbClr val="0D47A1"/>
                </a:solidFill>
                <a:latin typeface="Times New Roman"/>
              </a:defRPr>
            </a:pPr>
            <a:r>
              <a:t>References</a:t>
            </a:r>
          </a:p>
        </p:txBody>
      </p:sp>
      <p:pic>
        <p:nvPicPr>
          <p:cNvPr id="4" name="Picture 3">
            <a:extLst>
              <a:ext uri="{FF2B5EF4-FFF2-40B4-BE49-F238E27FC236}">
                <a16:creationId xmlns:a16="http://schemas.microsoft.com/office/drawing/2014/main" id="{A85D7D0E-ABB7-E883-566C-4C8953E682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759950" y="152400"/>
            <a:ext cx="2279650" cy="1039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32770"/>
          <p:cNvSpPr txBox="1"/>
          <p:nvPr/>
        </p:nvSpPr>
        <p:spPr>
          <a:xfrm>
            <a:off x="612648" y="1234440"/>
            <a:ext cx="10972800" cy="5303520"/>
          </a:xfrm>
          <a:prstGeom prst="rect">
            <a:avLst/>
          </a:prstGeom>
          <a:noFill/>
        </p:spPr>
        <p:txBody>
          <a:bodyPr wrap="square" lIns="73152" rIns="73152" tIns="73152" bIns="73152">
            <a:spAutoFit/>
          </a:bodyPr>
          <a:lstStyle/>
          <a:p>
            <a:pPr algn="just">
              <a:spcAft>
                <a:spcPts val="1000"/>
              </a:spcAft>
            </a:pPr>
            <a:r>
              <a:rPr sz="1300" b="1">
                <a:solidFill>
                  <a:srgbClr val="0D47A1"/>
                </a:solidFill>
                <a:latin typeface="Times New Roman"/>
              </a:rPr>
              <a:t>[1] </a:t>
            </a:r>
            <a:r>
              <a:rPr sz="1300" b="0">
                <a:solidFill>
                  <a:srgbClr val="212121"/>
                </a:solidFill>
                <a:latin typeface="Times New Roman"/>
              </a:rPr>
              <a:t>R. David, J. Duke, A. Jain, V. J. Reddi, J. Jeffries, J. Li, N. Kreeger, I. Naranjo-Alcazar, M. Slaney, T. Warden, et al., “TensorFlow Lite Micro: Embedded Machine Learning on TinyML Systems,” in Proc. Conf. Mach. Learn. Syst. (MLSys), 2021, pp. 800–811.</a:t>
            </a:r>
          </a:p>
          <a:p>
            <a:pPr algn="just">
              <a:spcAft>
                <a:spcPts val="1000"/>
              </a:spcAft>
            </a:pPr>
            <a:r>
              <a:rPr sz="1300" b="1">
                <a:solidFill>
                  <a:srgbClr val="0D47A1"/>
                </a:solidFill>
                <a:latin typeface="Times New Roman"/>
              </a:rPr>
              <a:t>[2] </a:t>
            </a:r>
            <a:r>
              <a:rPr sz="1300" b="0">
                <a:solidFill>
                  <a:srgbClr val="212121"/>
                </a:solidFill>
                <a:latin typeface="Times New Roman"/>
              </a:rPr>
              <a:t>J. Lin, L. Zhu, W.-M. Chen, W.-C. Wang, C. Gan, and S. Han, “On-Device Training Under 256KB Memory,” in Advances in Neural Information Processing Systems (NeurIPS), vol. 35, 2022, pp. 22941–22954.</a:t>
            </a:r>
          </a:p>
          <a:p>
            <a:pPr algn="just">
              <a:spcAft>
                <a:spcPts val="1000"/>
              </a:spcAft>
            </a:pPr>
            <a:r>
              <a:rPr sz="1300" b="1">
                <a:solidFill>
                  <a:srgbClr val="0D47A1"/>
                </a:solidFill>
                <a:latin typeface="Times New Roman"/>
              </a:rPr>
              <a:t>[3] </a:t>
            </a:r>
            <a:r>
              <a:rPr sz="1300" b="0">
                <a:solidFill>
                  <a:srgbClr val="212121"/>
                </a:solidFill>
                <a:latin typeface="Times New Roman"/>
              </a:rPr>
              <a:t>L. Ravaglia, M. Rusci, A. Bonetti, and E. Farella, “TinyOL: TinyML with Online-Learning on Microcontrollers,” in Proc. Int. Joint Conf. Neural Netw. (IJCNN), 2022, pp. 1–8.</a:t>
            </a:r>
          </a:p>
          <a:p>
            <a:pPr algn="just">
              <a:spcAft>
                <a:spcPts val="1000"/>
              </a:spcAft>
            </a:pPr>
            <a:r>
              <a:rPr sz="1300" b="1">
                <a:solidFill>
                  <a:srgbClr val="0D47A1"/>
                </a:solidFill>
                <a:latin typeface="Times New Roman"/>
              </a:rPr>
              <a:t>[4] </a:t>
            </a:r>
            <a:r>
              <a:rPr sz="1300" b="0">
                <a:solidFill>
                  <a:srgbClr val="212121"/>
                </a:solidFill>
                <a:latin typeface="Times New Roman"/>
              </a:rPr>
              <a:t>F. Conti, L. Cavigelli, G. Rutishauser, and L. Benini, “PULP-TrainLib: Enabling On-Device Deep Learning Training on Parallel Ultra-Low-Power RISC-V Multi-Cores,” IEEE Trans. Very Large Scale Integr. (VLSI) Syst., vol. 31, no. 5, pp. 687–700, May 2023.</a:t>
            </a:r>
          </a:p>
          <a:p>
            <a:pPr algn="just">
              <a:spcAft>
                <a:spcPts val="1000"/>
              </a:spcAft>
            </a:pPr>
            <a:r>
              <a:rPr sz="1300" b="1">
                <a:solidFill>
                  <a:srgbClr val="0D47A1"/>
                </a:solidFill>
                <a:latin typeface="Times New Roman"/>
              </a:rPr>
              <a:t>[5] </a:t>
            </a:r>
            <a:r>
              <a:rPr sz="1300" b="0">
                <a:solidFill>
                  <a:srgbClr val="212121"/>
                </a:solidFill>
                <a:latin typeface="Times New Roman"/>
              </a:rPr>
              <a:t>J. Lin, L. Zhu, W.-M. Chen, W.-C. Wang, and S. Han, “Tiny Machine Learning: Progress and Futures,” IEEE Circuits and Systems Magazine, vol. 24, no. 2, pp. 8–31, Second Quarter 2024.</a:t>
            </a:r>
          </a:p>
        </p:txBody>
      </p:sp>
    </p:spTree>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Archway</Template>
  <TotalTime>1428</TotalTime>
  <Words>761</Words>
  <Application>Microsoft Office PowerPoint</Application>
  <PresentationFormat>Widescreen</PresentationFormat>
  <Paragraphs>89</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Felix Titling</vt:lpstr>
      <vt:lpstr>Goudy Old Style</vt:lpstr>
      <vt:lpstr>Times New Roman</vt:lpstr>
      <vt:lpstr>Trebuchet MS</vt:lpstr>
      <vt:lpstr>Archway</vt:lpstr>
      <vt:lpstr> Title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Waqas Farooqui</dc:creator>
  <cp:lastModifiedBy>admin</cp:lastModifiedBy>
  <cp:revision>66</cp:revision>
  <dcterms:created xsi:type="dcterms:W3CDTF">2013-11-23T12:26:38Z</dcterms:created>
  <dcterms:modified xsi:type="dcterms:W3CDTF">2026-10-24T08:43:29Z</dcterms:modified>
</cp:coreProperties>
</file>