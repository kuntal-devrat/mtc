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3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279" r:id="rId5"/>
    <p:sldId id="261" r:id="rId6"/>
    <p:sldId id="286" r:id="rId7"/>
    <p:sldId id="281" r:id="rId8"/>
    <p:sldId id="282" r:id="rId9"/>
    <p:sldId id="283" r:id="rId10"/>
    <p:sldId id="284" r:id="rId11"/>
    <p:sldId id="280" r:id="rId12"/>
    <p:sldId id="269" r:id="rId13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6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0A5E93-529C-ACC3-8DDD-9EE34AB0F5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5E36B-8631-B3FE-E65C-ED83966DAC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95738" y="0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BC11394-E340-49A5-963B-CFA67BA49B2C}" type="datetimeFigureOut">
              <a:rPr lang="en-US"/>
              <a:pPr>
                <a:defRPr/>
              </a:pPr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4EDA8-6C8F-002C-3870-A8B0E3BAC6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A7C0B-61BB-3C17-5A8A-F5C43C7B8B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95738" y="8842375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8B489C-8479-4719-8378-F18FCE82D8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CC1580-A786-56AD-9423-A2B77F60A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28062-4AAD-784C-BFF7-2212028ADB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25CF505-59D6-49C7-960E-626F7EC21BC7}" type="datetimeFigureOut">
              <a:rPr lang="en-US"/>
              <a:pPr>
                <a:defRPr/>
              </a:pPr>
              <a:t>10/24/2026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C9565BA-F24E-6B5E-0522-5F6AF7A17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56B093-6F41-9AE6-E8EA-0CDD4872F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4850" y="4479925"/>
            <a:ext cx="5643563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1511-539F-09EF-FC81-EBBE83B927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FE8D5-45E7-1910-A928-DD0D50B91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6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AE4BC8-0E1D-4E9C-8652-D762AE1A98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07907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75774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75156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93490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872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92355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5767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6888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3228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511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893337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26353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34384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68832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34519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998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26596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897841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5882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50850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29073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4426054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089669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431004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5850142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1591119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0608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64343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6CB60E6-F32E-4FB1-B6CD-FA4C1F1FD720}" type="datetimeFigureOut">
              <a:rPr lang="en-US" smtClean="0"/>
              <a:pPr>
                <a:defRPr/>
              </a:pPr>
              <a:t>10/24/2026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D857069-9FF4-4794-8A48-7D5C51A82FD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33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  <p:sldLayoutId id="2147484265" r:id="rId12"/>
    <p:sldLayoutId id="2147484266" r:id="rId13"/>
    <p:sldLayoutId id="2147484267" r:id="rId14"/>
    <p:sldLayoutId id="2147484268" r:id="rId15"/>
    <p:sldLayoutId id="2147484269" r:id="rId16"/>
    <p:sldLayoutId id="2147484270" r:id="rId17"/>
    <p:sldLayoutId id="2147484271" r:id="rId18"/>
    <p:sldLayoutId id="2147484272" r:id="rId19"/>
    <p:sldLayoutId id="2147484273" r:id="rId20"/>
    <p:sldLayoutId id="2147484274" r:id="rId21"/>
    <p:sldLayoutId id="2147484275" r:id="rId22"/>
    <p:sldLayoutId id="2147484276" r:id="rId23"/>
    <p:sldLayoutId id="2147484277" r:id="rId24"/>
    <p:sldLayoutId id="2147484278" r:id="rId25"/>
    <p:sldLayoutId id="2147484279" r:id="rId26"/>
    <p:sldLayoutId id="2147484280" r:id="rId27"/>
    <p:sldLayoutId id="2147484281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DFCC4A5-2F52-31EB-A2C8-5091FA6FF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21507" name="Subtitle 2">
            <a:extLst>
              <a:ext uri="{FF2B5EF4-FFF2-40B4-BE49-F238E27FC236}">
                <a16:creationId xmlns:a16="http://schemas.microsoft.com/office/drawing/2014/main" id="{36F05418-C7BC-136B-5C67-E053925BD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" y="4357688"/>
            <a:ext cx="8143875" cy="503237"/>
          </a:xfrm>
        </p:spPr>
        <p:txBody>
          <a:bodyPr/>
          <a:lstStyle/>
          <a:p>
            <a:pPr algn="l" eaLnBrk="1" hangingPunct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Candidate(S) Name and Roll No.</a:t>
            </a:r>
          </a:p>
        </p:txBody>
      </p:sp>
      <p:sp>
        <p:nvSpPr>
          <p:cNvPr id="21508" name="Content Placeholder 2">
            <a:extLst>
              <a:ext uri="{FF2B5EF4-FFF2-40B4-BE49-F238E27FC236}">
                <a16:creationId xmlns:a16="http://schemas.microsoft.com/office/drawing/2014/main" id="{EC5AFCD2-BA64-AD15-5394-A386C48E01FD}"/>
              </a:ext>
            </a:extLst>
          </p:cNvPr>
          <p:cNvSpPr txBox="1">
            <a:spLocks/>
          </p:cNvSpPr>
          <p:nvPr/>
        </p:nvSpPr>
        <p:spPr bwMode="auto">
          <a:xfrm>
            <a:off x="2998787" y="-17526"/>
            <a:ext cx="73993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SYNOPSIS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18779-ED9A-B381-9EEA-A6A0AF7C67FE}"/>
              </a:ext>
            </a:extLst>
          </p:cNvPr>
          <p:cNvSpPr txBox="1"/>
          <p:nvPr/>
        </p:nvSpPr>
        <p:spPr>
          <a:xfrm>
            <a:off x="273050" y="735678"/>
            <a:ext cx="6727825" cy="646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</a:rPr>
              <a:t>Total slides Not More Than 14</a:t>
            </a: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C37A74E6-6682-D83C-A8B9-B9572B2AD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4424363"/>
            <a:ext cx="3067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 with Designation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9D8FF-C030-616B-035D-0A5BE3486AD1}"/>
              </a:ext>
            </a:extLst>
          </p:cNvPr>
          <p:cNvSpPr txBox="1"/>
          <p:nvPr/>
        </p:nvSpPr>
        <p:spPr>
          <a:xfrm>
            <a:off x="1166813" y="5376863"/>
            <a:ext cx="9231312" cy="12001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</a:rPr>
              <a:t>Strictly follow the guidelines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</a:rPr>
              <a:t>Do not alter the formatting guidelines</a:t>
            </a:r>
          </a:p>
        </p:txBody>
      </p:sp>
      <p:pic>
        <p:nvPicPr>
          <p:cNvPr id="21512" name="Picture 3">
            <a:extLst>
              <a:ext uri="{FF2B5EF4-FFF2-40B4-BE49-F238E27FC236}">
                <a16:creationId xmlns:a16="http://schemas.microsoft.com/office/drawing/2014/main" id="{1B50234B-5C7D-9936-E196-729014A70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2">
            <a:extLst>
              <a:ext uri="{FF2B5EF4-FFF2-40B4-BE49-F238E27FC236}">
                <a16:creationId xmlns:a16="http://schemas.microsoft.com/office/drawing/2014/main" id="{45621B84-24B1-966D-428D-1E98D0DC2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55588"/>
            <a:ext cx="7469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(Includes Background Information)</a:t>
            </a:r>
          </a:p>
        </p:txBody>
      </p:sp>
      <p:sp>
        <p:nvSpPr>
          <p:cNvPr id="22532" name="TextBox 10">
            <a:extLst>
              <a:ext uri="{FF2B5EF4-FFF2-40B4-BE49-F238E27FC236}">
                <a16:creationId xmlns:a16="http://schemas.microsoft.com/office/drawing/2014/main" id="{4F5472CF-EDDB-B7B6-A469-FF335DFAB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5159375"/>
            <a:ext cx="185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91AED5-79FF-E4C9-1E08-B9D1CF9AF227}"/>
              </a:ext>
            </a:extLst>
          </p:cNvPr>
          <p:cNvSpPr txBox="1"/>
          <p:nvPr/>
        </p:nvSpPr>
        <p:spPr>
          <a:xfrm>
            <a:off x="3684588" y="1644650"/>
            <a:ext cx="4443412" cy="13858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2803E9-CB56-0432-DE41-22F045640811}"/>
              </a:ext>
            </a:extLst>
          </p:cNvPr>
          <p:cNvSpPr txBox="1"/>
          <p:nvPr/>
        </p:nvSpPr>
        <p:spPr>
          <a:xfrm>
            <a:off x="993775" y="4408488"/>
            <a:ext cx="9804400" cy="708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Clearly explain what they are trying to solve and what they have achieved so far. It should includes research objectives that you wants to achieves during your project.</a:t>
            </a:r>
            <a:endParaRPr lang="en-US" sz="200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A856B83-C754-421B-D54D-C9778BBD2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96000">
              <a:schemeClr val="bg1"/>
            </a:gs>
            <a:gs pos="98000">
              <a:srgbClr val="EE7444"/>
            </a:gs>
            <a:gs pos="100000">
              <a:srgbClr val="8D0000"/>
            </a:gs>
            <a:gs pos="100000">
              <a:srgbClr val="8D0000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2">
            <a:extLst>
              <a:ext uri="{FF2B5EF4-FFF2-40B4-BE49-F238E27FC236}">
                <a16:creationId xmlns:a16="http://schemas.microsoft.com/office/drawing/2014/main" id="{94AE3AB9-10FA-D76C-B517-BE33CC809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0363"/>
            <a:ext cx="7645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E00AD-D302-6995-EF99-BE9CC065BFEF}"/>
              </a:ext>
            </a:extLst>
          </p:cNvPr>
          <p:cNvSpPr txBox="1"/>
          <p:nvPr/>
        </p:nvSpPr>
        <p:spPr>
          <a:xfrm>
            <a:off x="5257800" y="219075"/>
            <a:ext cx="5207000" cy="954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Only single slide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/>
              <a:t>(not more than 4 references latest by 2022)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7F09A7-1F9E-1DC1-9159-C9B0F8F55CCE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57350"/>
          <a:ext cx="10133013" cy="3749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0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6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097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 .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US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 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 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Journal/ Conference Name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</a:t>
                      </a:r>
                      <a:r>
                        <a:rPr lang="en-US" sz="12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Summary</a:t>
                      </a: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632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Juliana P. Moretti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use of construction waste (CW) and sugarcane bagasse ash sand</a:t>
                      </a:r>
                    </a:p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(SBAS) in concrete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 and Building Materials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92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G.C. </a:t>
                      </a:r>
                      <a:r>
                        <a:rPr lang="en-US" sz="1200" u="none" strike="noStrike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Cordeiro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</a:t>
                      </a:r>
                      <a:r>
                        <a:rPr lang="en-US" sz="1200" u="none" strike="noStrike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pozzolanic</a:t>
                      </a:r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activity of sugar cane bagasse ash by selective</a:t>
                      </a:r>
                    </a:p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grinding and classification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Cement and Concrete Research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32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Syed Minhaj Saleem Kazmi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Pozzolanic</a:t>
                      </a:r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reaction of sugarcane bagasse ash and its role in controlling</a:t>
                      </a:r>
                    </a:p>
                    <a:p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alkali silica reaction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Construction and Building Materials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rrow: Left 6">
            <a:extLst>
              <a:ext uri="{FF2B5EF4-FFF2-40B4-BE49-F238E27FC236}">
                <a16:creationId xmlns:a16="http://schemas.microsoft.com/office/drawing/2014/main" id="{1E2947EA-D895-C189-E845-6565DCB33ABE}"/>
              </a:ext>
            </a:extLst>
          </p:cNvPr>
          <p:cNvSpPr/>
          <p:nvPr/>
        </p:nvSpPr>
        <p:spPr>
          <a:xfrm rot="7014874">
            <a:off x="2025651" y="5027612"/>
            <a:ext cx="1498600" cy="46672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BFA75-8DDD-BFD7-395C-3CF0A69E6D20}"/>
              </a:ext>
            </a:extLst>
          </p:cNvPr>
          <p:cNvSpPr txBox="1"/>
          <p:nvPr/>
        </p:nvSpPr>
        <p:spPr>
          <a:xfrm>
            <a:off x="304800" y="5580063"/>
            <a:ext cx="3852863" cy="708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/>
              <a:t>(Don’t add literature that has been published before 2022)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89FEF-1FCD-1E6F-DC03-DAE02E5B5CC1}"/>
              </a:ext>
            </a:extLst>
          </p:cNvPr>
          <p:cNvSpPr txBox="1"/>
          <p:nvPr/>
        </p:nvSpPr>
        <p:spPr>
          <a:xfrm>
            <a:off x="4865688" y="5580063"/>
            <a:ext cx="7021512" cy="101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If the reviewed studies use datasets, add a separate “Dataset” column in the literature survey table and mention the respective dataset.</a:t>
            </a:r>
            <a:endParaRPr lang="en-US" sz="200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498B66E-6B85-B1B3-73F1-AFB8D9B0C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">
            <a:extLst>
              <a:ext uri="{FF2B5EF4-FFF2-40B4-BE49-F238E27FC236}">
                <a16:creationId xmlns:a16="http://schemas.microsoft.com/office/drawing/2014/main" id="{0F5203F3-0D38-BA4E-A375-709A41E49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133350"/>
            <a:ext cx="82280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 through literature/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D90B3-0A9B-C810-8D54-1B4566419052}"/>
              </a:ext>
            </a:extLst>
          </p:cNvPr>
          <p:cNvSpPr txBox="1"/>
          <p:nvPr/>
        </p:nvSpPr>
        <p:spPr>
          <a:xfrm>
            <a:off x="4046538" y="1674813"/>
            <a:ext cx="4595812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98494-BEEB-2C38-6461-7142CA31B777}"/>
              </a:ext>
            </a:extLst>
          </p:cNvPr>
          <p:cNvSpPr txBox="1"/>
          <p:nvPr/>
        </p:nvSpPr>
        <p:spPr>
          <a:xfrm>
            <a:off x="750888" y="3965575"/>
            <a:ext cx="10690225" cy="7699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200" dirty="0"/>
              <a:t>Clearly state the specific limitations, challenges, or unexplored areas found in the existing research. </a:t>
            </a:r>
            <a:endParaRPr lang="en-US" sz="220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6447F22-2005-F3B1-43E3-39971C325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2">
            <a:extLst>
              <a:ext uri="{FF2B5EF4-FFF2-40B4-BE49-F238E27FC236}">
                <a16:creationId xmlns:a16="http://schemas.microsoft.com/office/drawing/2014/main" id="{38B03D85-76F8-EBA8-9B2C-EFBA1AE94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88913"/>
            <a:ext cx="67389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altLang="en-US" sz="4400"/>
              <a:t> Adopted</a:t>
            </a:r>
            <a:endParaRPr lang="en-US" alt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FE080-99F8-2730-62B3-2B37DF52E774}"/>
              </a:ext>
            </a:extLst>
          </p:cNvPr>
          <p:cNvSpPr txBox="1"/>
          <p:nvPr/>
        </p:nvSpPr>
        <p:spPr>
          <a:xfrm>
            <a:off x="3551238" y="1525588"/>
            <a:ext cx="4487862" cy="831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Alignment should be justified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7BA00-CF34-AAFD-6241-B776F61F2AF8}"/>
              </a:ext>
            </a:extLst>
          </p:cNvPr>
          <p:cNvSpPr txBox="1"/>
          <p:nvPr/>
        </p:nvSpPr>
        <p:spPr>
          <a:xfrm>
            <a:off x="1336675" y="2828925"/>
            <a:ext cx="9297988" cy="13223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Describe the specific methodology, framework, algorithm, model, or approach proposed to solve the identified problem. Briefly explain the major stages of the proposed work and represent the overall process using a suitable workflow or flowchart.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DFB79-43B5-0653-F61D-206FD85E4C9D}"/>
              </a:ext>
            </a:extLst>
          </p:cNvPr>
          <p:cNvSpPr txBox="1"/>
          <p:nvPr/>
        </p:nvSpPr>
        <p:spPr>
          <a:xfrm>
            <a:off x="3105150" y="4722813"/>
            <a:ext cx="5981700" cy="8302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Make it under 1-2 slides within points. Try to elaborate the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44891-66EA-8CB1-0D7D-573BA3ADB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2">
            <a:extLst>
              <a:ext uri="{FF2B5EF4-FFF2-40B4-BE49-F238E27FC236}">
                <a16:creationId xmlns:a16="http://schemas.microsoft.com/office/drawing/2014/main" id="{48662F21-37E9-F961-D020-A7A6FE17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88913"/>
            <a:ext cx="67389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(if included)</a:t>
            </a:r>
            <a:endParaRPr lang="en-US" alt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0B0D8-2549-B4A3-3761-04A1BE3E3332}"/>
              </a:ext>
            </a:extLst>
          </p:cNvPr>
          <p:cNvSpPr txBox="1"/>
          <p:nvPr/>
        </p:nvSpPr>
        <p:spPr>
          <a:xfrm>
            <a:off x="1209675" y="3752850"/>
            <a:ext cx="9297988" cy="708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Dataset name and source, size, attributes/classes, sample data, data distribution, preprocessing, and train/validation/test split, where applicable.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140D6-9137-B550-8A58-4084697E932A}"/>
              </a:ext>
            </a:extLst>
          </p:cNvPr>
          <p:cNvSpPr txBox="1"/>
          <p:nvPr/>
        </p:nvSpPr>
        <p:spPr>
          <a:xfrm>
            <a:off x="4046538" y="1674813"/>
            <a:ext cx="4595812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97C20EB-B5F7-B4CE-E097-1BC2C8AAB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">
            <a:extLst>
              <a:ext uri="{FF2B5EF4-FFF2-40B4-BE49-F238E27FC236}">
                <a16:creationId xmlns:a16="http://schemas.microsoft.com/office/drawing/2014/main" id="{44B2EBFD-FB3A-2DC9-F438-A8E2D354E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80975"/>
            <a:ext cx="673893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C7D4A-187F-C02F-8B8C-9C4D4FBEA004}"/>
              </a:ext>
            </a:extLst>
          </p:cNvPr>
          <p:cNvSpPr txBox="1"/>
          <p:nvPr/>
        </p:nvSpPr>
        <p:spPr>
          <a:xfrm>
            <a:off x="866775" y="3716338"/>
            <a:ext cx="10458450" cy="12001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Depicts </a:t>
            </a:r>
            <a:r>
              <a:rPr lang="en-IN" sz="2400" dirty="0"/>
              <a:t>system components, modules, their relationships, data flow, inputs, processing, and outputs. Describes the architectures through explain all its components and features along with suitable diagrams.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99BBD-0F96-5229-D7EE-0A133F2A2EA8}"/>
              </a:ext>
            </a:extLst>
          </p:cNvPr>
          <p:cNvSpPr txBox="1"/>
          <p:nvPr/>
        </p:nvSpPr>
        <p:spPr>
          <a:xfrm>
            <a:off x="3798888" y="1444625"/>
            <a:ext cx="4594225" cy="646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E2B51-FDFD-2574-0EDF-B756EF8D7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">
            <a:extLst>
              <a:ext uri="{FF2B5EF4-FFF2-40B4-BE49-F238E27FC236}">
                <a16:creationId xmlns:a16="http://schemas.microsoft.com/office/drawing/2014/main" id="{122C4529-D8A9-6C88-31B3-47171C41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88913"/>
            <a:ext cx="975518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Experimental Setup</a:t>
            </a: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6169E-47C5-278E-0DD6-98998A20807E}"/>
              </a:ext>
            </a:extLst>
          </p:cNvPr>
          <p:cNvSpPr txBox="1"/>
          <p:nvPr/>
        </p:nvSpPr>
        <p:spPr>
          <a:xfrm>
            <a:off x="3551238" y="1525588"/>
            <a:ext cx="4487862" cy="831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Alignment should be justified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2F9C8-AB96-FD41-227D-9EDD88F84E57}"/>
              </a:ext>
            </a:extLst>
          </p:cNvPr>
          <p:cNvSpPr txBox="1"/>
          <p:nvPr/>
        </p:nvSpPr>
        <p:spPr>
          <a:xfrm>
            <a:off x="1336675" y="2828925"/>
            <a:ext cx="9297988" cy="13223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Describe the specific methodology, framework, algorithm, model, or approach proposed to solve the identified problem. Briefly explain the major stages of the proposed work and represent the overall process using a suitable workflow or flowchart.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F9346-94A4-FCA7-5562-0FFD060F530F}"/>
              </a:ext>
            </a:extLst>
          </p:cNvPr>
          <p:cNvSpPr txBox="1"/>
          <p:nvPr/>
        </p:nvSpPr>
        <p:spPr>
          <a:xfrm>
            <a:off x="3105150" y="4722813"/>
            <a:ext cx="5981700" cy="8302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Make it under 1-2 slides within points. Try to elaborate the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967106-6B05-7AA0-18DD-D6CB65EAC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2">
            <a:extLst>
              <a:ext uri="{FF2B5EF4-FFF2-40B4-BE49-F238E27FC236}">
                <a16:creationId xmlns:a16="http://schemas.microsoft.com/office/drawing/2014/main" id="{B8A9BDC4-8197-ADB5-69F7-BC602CC70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88913"/>
            <a:ext cx="97551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Snapshots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FEDC8-9011-7045-70CB-0A5AF6C310DC}"/>
              </a:ext>
            </a:extLst>
          </p:cNvPr>
          <p:cNvSpPr txBox="1"/>
          <p:nvPr/>
        </p:nvSpPr>
        <p:spPr>
          <a:xfrm>
            <a:off x="1336675" y="3417888"/>
            <a:ext cx="9297988" cy="13239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Includes </a:t>
            </a:r>
            <a:r>
              <a:rPr lang="en-US" sz="2000" dirty="0"/>
              <a:t>actual outputs, experimental observations, tables, graphs, test results, or performance metrics obtained so far. It may also includes </a:t>
            </a:r>
            <a:r>
              <a:rPr lang="en-IN" sz="2000" dirty="0"/>
              <a:t>Interpretation of results, comparison with a baseline where applicable, objective-wise evaluation, errors, and areas for improvement.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B118A-3B10-1A34-D3FA-6B31555B3C01}"/>
              </a:ext>
            </a:extLst>
          </p:cNvPr>
          <p:cNvSpPr txBox="1"/>
          <p:nvPr/>
        </p:nvSpPr>
        <p:spPr>
          <a:xfrm>
            <a:off x="4046538" y="1674813"/>
            <a:ext cx="4595812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A4F99-D5C2-EC33-C168-CED131000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2">
            <a:extLst>
              <a:ext uri="{FF2B5EF4-FFF2-40B4-BE49-F238E27FC236}">
                <a16:creationId xmlns:a16="http://schemas.microsoft.com/office/drawing/2014/main" id="{4A08D8C7-5760-CF34-30A8-46C344F1D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88913"/>
            <a:ext cx="97551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C39BE-6DD5-A699-D1F0-3F1B1050AB23}"/>
              </a:ext>
            </a:extLst>
          </p:cNvPr>
          <p:cNvSpPr txBox="1"/>
          <p:nvPr/>
        </p:nvSpPr>
        <p:spPr>
          <a:xfrm>
            <a:off x="1336675" y="2828925"/>
            <a:ext cx="9297988" cy="101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/>
              <a:t>Includes genuine screenshots of the interface, code execution, implemented modules, model outputs, hardware setup, or other project-specific evidence, with brief captions. Try to showcase the work you have done yet.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4EC84-030E-EE79-4660-BB5D6A0BFC83}"/>
              </a:ext>
            </a:extLst>
          </p:cNvPr>
          <p:cNvSpPr txBox="1"/>
          <p:nvPr/>
        </p:nvSpPr>
        <p:spPr>
          <a:xfrm>
            <a:off x="3798888" y="1249363"/>
            <a:ext cx="4594225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3CCEAE1-4CE7-2E04-0CB8-484F75757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2">
            <a:extLst>
              <a:ext uri="{FF2B5EF4-FFF2-40B4-BE49-F238E27FC236}">
                <a16:creationId xmlns:a16="http://schemas.microsoft.com/office/drawing/2014/main" id="{D8F9347F-955B-61E5-F6B2-4AE6B8D5D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231775"/>
            <a:ext cx="7910512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1BAA3-248E-5C9E-5D57-4DB7640A23B2}"/>
              </a:ext>
            </a:extLst>
          </p:cNvPr>
          <p:cNvSpPr txBox="1"/>
          <p:nvPr/>
        </p:nvSpPr>
        <p:spPr>
          <a:xfrm>
            <a:off x="1322388" y="4052888"/>
            <a:ext cx="9547225" cy="4619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/>
              <a:t>Summary of completed work, objectives achieved so far.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7FBCB-955A-8480-7EF2-05F47634253B}"/>
              </a:ext>
            </a:extLst>
          </p:cNvPr>
          <p:cNvSpPr txBox="1"/>
          <p:nvPr/>
        </p:nvSpPr>
        <p:spPr>
          <a:xfrm>
            <a:off x="4046538" y="1674813"/>
            <a:ext cx="4595812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/>
              <a:t>Single Slide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(Point wise)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/>
              <a:t>Alignment should be justified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206E2-8A73-7AA9-7247-1F36C5438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2">
            <a:extLst>
              <a:ext uri="{FF2B5EF4-FFF2-40B4-BE49-F238E27FC236}">
                <a16:creationId xmlns:a16="http://schemas.microsoft.com/office/drawing/2014/main" id="{8AE34FAB-A582-424F-7D83-2C88B705C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219075"/>
            <a:ext cx="10725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5AA05-B054-2139-D674-CC21D29CB643}"/>
              </a:ext>
            </a:extLst>
          </p:cNvPr>
          <p:cNvSpPr txBox="1"/>
          <p:nvPr/>
        </p:nvSpPr>
        <p:spPr>
          <a:xfrm>
            <a:off x="555625" y="1438275"/>
            <a:ext cx="9731375" cy="6461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IN" dirty="0"/>
              <a:t>List the research papers, books, datasets, documentation, and other credible sources in </a:t>
            </a:r>
            <a:r>
              <a:rPr lang="en-IN" b="1" dirty="0">
                <a:highlight>
                  <a:srgbClr val="FFFF00"/>
                </a:highlight>
              </a:rPr>
              <a:t>IEEE format (APA)</a:t>
            </a:r>
            <a:r>
              <a:rPr lang="en-IN" dirty="0"/>
              <a:t>. Examples are provided below.</a:t>
            </a:r>
            <a:endParaRPr lang="en-US" dirty="0"/>
          </a:p>
        </p:txBody>
      </p:sp>
      <p:sp>
        <p:nvSpPr>
          <p:cNvPr id="32774" name="TextBox 4">
            <a:extLst>
              <a:ext uri="{FF2B5EF4-FFF2-40B4-BE49-F238E27FC236}">
                <a16:creationId xmlns:a16="http://schemas.microsoft.com/office/drawing/2014/main" id="{6309E1C6-0EBC-EF49-F2CF-58E33599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3084513"/>
            <a:ext cx="99409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r>
              <a:rPr lang="en-IN" altLang="en-US" sz="1800" dirty="0">
                <a:latin typeface="Arial" panose="020B0604020202020204" pitchFamily="34" charset="0"/>
              </a:rPr>
              <a:t>G. Eason, B. Noble, and I. N. Sneddon, “On certain integrals of Lipschitz-Hankel type involving products of Bessel functions,” </a:t>
            </a:r>
            <a:r>
              <a:rPr lang="en-IN" altLang="en-US" sz="1800" i="1" dirty="0">
                <a:latin typeface="Arial" panose="020B0604020202020204" pitchFamily="34" charset="0"/>
              </a:rPr>
              <a:t>Phil. Trans. Roy. Soc. London</a:t>
            </a:r>
            <a:r>
              <a:rPr lang="en-IN" altLang="en-US" sz="1800" dirty="0">
                <a:latin typeface="Arial" panose="020B0604020202020204" pitchFamily="34" charset="0"/>
              </a:rPr>
              <a:t>, vol. A247, pp. 529–551, Apr. 1955.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endParaRPr lang="en-IN" altLang="en-US" sz="1800" dirty="0"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r>
              <a:rPr lang="en-IN" altLang="en-US" sz="1800" dirty="0">
                <a:latin typeface="Arial" panose="020B0604020202020204" pitchFamily="34" charset="0"/>
              </a:rPr>
              <a:t>R. Zhou </a:t>
            </a:r>
            <a:r>
              <a:rPr lang="en-IN" altLang="en-US" sz="1800" i="1" dirty="0">
                <a:latin typeface="Arial" panose="020B0604020202020204" pitchFamily="34" charset="0"/>
              </a:rPr>
              <a:t>et al.</a:t>
            </a:r>
            <a:r>
              <a:rPr lang="en-IN" altLang="en-US" sz="1800" dirty="0">
                <a:latin typeface="Arial" panose="020B0604020202020204" pitchFamily="34" charset="0"/>
              </a:rPr>
              <a:t>, “</a:t>
            </a:r>
            <a:r>
              <a:rPr lang="en-IN" altLang="en-US" sz="1800" dirty="0" err="1">
                <a:latin typeface="Arial" panose="020B0604020202020204" pitchFamily="34" charset="0"/>
              </a:rPr>
              <a:t>Modeling</a:t>
            </a:r>
            <a:r>
              <a:rPr lang="en-IN" altLang="en-US" sz="1800" dirty="0">
                <a:latin typeface="Arial" panose="020B0604020202020204" pitchFamily="34" charset="0"/>
              </a:rPr>
              <a:t> the impact of spatial resolutions on perceptual quality of immersive image/video,” in </a:t>
            </a:r>
            <a:r>
              <a:rPr lang="en-IN" altLang="en-US" sz="1800" i="1" dirty="0">
                <a:latin typeface="Arial" panose="020B0604020202020204" pitchFamily="34" charset="0"/>
              </a:rPr>
              <a:t>Proc. Int. Conf. 3D Imaging (IC3D)</a:t>
            </a:r>
            <a:r>
              <a:rPr lang="en-IN" altLang="en-US" sz="1800" dirty="0">
                <a:latin typeface="Arial" panose="020B0604020202020204" pitchFamily="34" charset="0"/>
              </a:rPr>
              <a:t>, 2016, pp. 1–6.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endParaRPr lang="en-IN" altLang="en-US" sz="1800" dirty="0"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r>
              <a:rPr lang="en-IN" altLang="en-US" sz="1800" dirty="0">
                <a:latin typeface="Arial" panose="020B0604020202020204" pitchFamily="34" charset="0"/>
              </a:rPr>
              <a:t>M. Young, </a:t>
            </a:r>
            <a:r>
              <a:rPr lang="en-IN" altLang="en-US" sz="1800" i="1" dirty="0">
                <a:latin typeface="Arial" panose="020B0604020202020204" pitchFamily="34" charset="0"/>
              </a:rPr>
              <a:t>The Technical Writer’s Handbook</a:t>
            </a:r>
            <a:r>
              <a:rPr lang="en-IN" altLang="en-US" sz="1800" dirty="0">
                <a:latin typeface="Arial" panose="020B0604020202020204" pitchFamily="34" charset="0"/>
              </a:rPr>
              <a:t>. Mill Valley, CA, USA: University Science, 1989.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endParaRPr lang="en-IN" altLang="en-US" sz="1800" dirty="0"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Trebuchet MS" panose="020B0603020202020204" pitchFamily="34" charset="0"/>
              <a:buAutoNum type="arabicPeriod"/>
            </a:pPr>
            <a:r>
              <a:rPr lang="en-US" altLang="en-US" sz="1800" dirty="0">
                <a:latin typeface="Arial" panose="020B0604020202020204" pitchFamily="34" charset="0"/>
              </a:rPr>
              <a:t>S. Liu, “Wi-Fi Energy Detection Testbed (12MTC),” 2023, </a:t>
            </a:r>
            <a:r>
              <a:rPr lang="en-US" altLang="en-US" sz="1800" dirty="0" err="1">
                <a:latin typeface="Arial" panose="020B0604020202020204" pitchFamily="34" charset="0"/>
              </a:rPr>
              <a:t>gitHub</a:t>
            </a:r>
            <a:r>
              <a:rPr lang="en-US" altLang="en-US" sz="1800" dirty="0">
                <a:latin typeface="Arial" panose="020B0604020202020204" pitchFamily="34" charset="0"/>
              </a:rPr>
              <a:t> repository. [Online]. Available: https://github.com/liustone99/Wi-Fi-Energy-Detection-Testbed-12MTC</a:t>
            </a:r>
            <a:endParaRPr lang="en-IN" altLang="en-US" sz="18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BD445-92DA-A212-8746-FBDBE0F27609}"/>
              </a:ext>
            </a:extLst>
          </p:cNvPr>
          <p:cNvSpPr txBox="1"/>
          <p:nvPr/>
        </p:nvSpPr>
        <p:spPr>
          <a:xfrm>
            <a:off x="4249738" y="438150"/>
            <a:ext cx="4595812" cy="4619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Alignment should be justified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D7D0E-ABB7-E883-566C-4C8953E68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950" y="152400"/>
            <a:ext cx="22796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1428</TotalTime>
  <Words>761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Felix Titling</vt:lpstr>
      <vt:lpstr>Goudy Old Style</vt:lpstr>
      <vt:lpstr>Times New Roman</vt:lpstr>
      <vt:lpstr>Trebuchet MS</vt:lpstr>
      <vt:lpstr>Archway</vt:lpstr>
      <vt:lpstr>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Waqas Farooqui</dc:creator>
  <cp:lastModifiedBy>admin</cp:lastModifiedBy>
  <cp:revision>66</cp:revision>
  <dcterms:created xsi:type="dcterms:W3CDTF">2013-11-23T12:26:38Z</dcterms:created>
  <dcterms:modified xsi:type="dcterms:W3CDTF">2026-10-24T08:43:29Z</dcterms:modified>
</cp:coreProperties>
</file>